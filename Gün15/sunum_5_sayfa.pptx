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-17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78"/>
            <a:ext cx="10362895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KAYDIN YOKLUĞU, OLAYIN YOKLUĞU DEĞİLDİR</a:t>
            </a:r>
          </a:p>
          <a:p>
            <a:pPr algn="ctr">
              <a:spcBef>
                <a:spcPts val="1400"/>
              </a:spcBef>
              <a:defRPr sz="1800" b="1">
                <a:solidFill>
                  <a:srgbClr val="0284C7"/>
                </a:solidFill>
              </a:defRPr>
            </a:pPr>
            <a:r>
              <a:rPr sz="2400"/>
              <a:t>Siber Güvenlikte Loglama, Görünürlük Boşlukları ve </a:t>
            </a:r>
            <a:r>
              <a:rPr sz="2400"/>
              <a:t>Kanıtın </a:t>
            </a:r>
            <a:r>
              <a:rPr sz="2400" smtClean="0"/>
              <a:t>Ömrü</a:t>
            </a:r>
            <a:endParaRPr lang="tr-TR" sz="2400" dirty="0" smtClean="0"/>
          </a:p>
          <a:p>
            <a:pPr algn="ctr">
              <a:spcBef>
                <a:spcPts val="1400"/>
              </a:spcBef>
              <a:defRPr sz="1800" b="1">
                <a:solidFill>
                  <a:srgbClr val="0284C7"/>
                </a:solidFill>
              </a:defRPr>
            </a:pPr>
            <a:r>
              <a:rPr lang="tr-TR" dirty="0" smtClean="0"/>
              <a:t>Erdem Arar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7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2400"/>
              <a:t>KAYDIN YOKLUĞU, OLAYIN YOKLUĞU DEĞİLDİR</a:t>
            </a:r>
          </a:p>
          <a:p>
            <a:pPr>
              <a:spcBef>
                <a:spcPts val="300"/>
              </a:spcBef>
              <a:defRPr sz="1300" b="1">
                <a:solidFill>
                  <a:srgbClr val="0284C7"/>
                </a:solidFill>
              </a:defRPr>
            </a:pPr>
            <a:r>
              <a:rPr sz="2400"/>
              <a:t>Loglama ve </a:t>
            </a:r>
            <a:r>
              <a:rPr sz="2400"/>
              <a:t>Görünürlük </a:t>
            </a:r>
            <a:r>
              <a:rPr sz="2400" smtClean="0"/>
              <a:t>Tuzağı</a:t>
            </a:r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339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>
                <a:solidFill>
                  <a:srgbClr val="0284C7"/>
                </a:solidFill>
              </a:rPr>
              <a:t>• Temel Analist Tuzağı: </a:t>
            </a:r>
            <a:r>
              <a:rPr>
                <a:solidFill>
                  <a:srgbClr val="1E293B"/>
                </a:solidFill>
              </a:rPr>
              <a:t>'Logda görünmüyorsa olay gerçekleşmemiştir' varsayımı yanıltıcıdır; kaydın yokluğu olayın yokluğu anlamına gelmez.</a:t>
            </a:r>
          </a:p>
          <a:p>
            <a:pPr>
              <a:spcAft>
                <a:spcPts val="1200"/>
              </a:spcAft>
            </a:pPr>
            <a:r>
              <a:rPr b="1">
                <a:solidFill>
                  <a:srgbClr val="0284C7"/>
                </a:solidFill>
              </a:rPr>
              <a:t>• Varsayılan Ayarlar &amp; Denetim: </a:t>
            </a:r>
            <a:r>
              <a:rPr>
                <a:solidFill>
                  <a:srgbClr val="1E293B"/>
                </a:solidFill>
              </a:rPr>
              <a:t>Windows ve Linux varsayılan ayarları her eylemi kaydetmez; denetim politikası (Audit Policy) açık değilse izler kalıcı olarak kaybolur.</a:t>
            </a:r>
          </a:p>
          <a:p>
            <a:pPr>
              <a:spcAft>
                <a:spcPts val="1200"/>
              </a:spcAft>
            </a:pPr>
            <a:r>
              <a:rPr b="1">
                <a:solidFill>
                  <a:srgbClr val="0284C7"/>
                </a:solidFill>
              </a:rPr>
              <a:t>• Başarısız Giriş Kanıtı (4625): </a:t>
            </a:r>
            <a:r>
              <a:rPr>
                <a:solidFill>
                  <a:srgbClr val="1E293B"/>
                </a:solidFill>
              </a:rPr>
              <a:t>Security günlüğünde 13:38:41 PM'de Event ID 4625 (Audit Failure) ile kaydedildi. Hesap: 'Erdem', Hata: 'Unknown user name or bad password.'</a:t>
            </a:r>
          </a:p>
          <a:p>
            <a:pPr>
              <a:spcAft>
                <a:spcPts val="1200"/>
              </a:spcAft>
            </a:pPr>
            <a:r>
              <a:rPr b="1">
                <a:solidFill>
                  <a:srgbClr val="0284C7"/>
                </a:solidFill>
              </a:rPr>
              <a:t>• Başarılı Giriş Bağlamı (4624): </a:t>
            </a:r>
            <a:r>
              <a:rPr>
                <a:solidFill>
                  <a:srgbClr val="1E293B"/>
                </a:solidFill>
              </a:rPr>
              <a:t>13:54:43 PM'de Event ID 4624 ile doğrulandı. Logon Type 5 bağlamı, oturumun niteliğini ayırt etmede kritik rol oynar.</a:t>
            </a:r>
          </a:p>
        </p:txBody>
      </p:sp>
      <p:pic>
        <p:nvPicPr>
          <p:cNvPr id="4" name="Picture 3" descr="input_fil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4192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7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2400"/>
              <a:t>NEDEN VARSAYILAN LOG YETERLİ DEĞİL?</a:t>
            </a:r>
          </a:p>
          <a:p>
            <a:pPr>
              <a:spcBef>
                <a:spcPts val="300"/>
              </a:spcBef>
              <a:defRPr sz="1300" b="1">
                <a:solidFill>
                  <a:srgbClr val="0284C7"/>
                </a:solidFill>
              </a:defRPr>
            </a:pPr>
            <a:r>
              <a:rPr sz="2400"/>
              <a:t>Görünürlük Boşlukları: Windows Security vs. Sysmon (Event ID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0626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>
                <a:solidFill>
                  <a:srgbClr val="0284C7"/>
                </a:solidFill>
              </a:rPr>
              <a:t>• Varsayılan Günlüklerin Körlüğü: </a:t>
            </a:r>
            <a:r>
              <a:rPr>
                <a:solidFill>
                  <a:srgbClr val="1E293B"/>
                </a:solidFill>
              </a:rPr>
              <a:t>Windows Security günlüğü sadece kimin oturum açtığını söyler; kullanıcının hangi komut veya yazılımı koşturduğunu göstermez.</a:t>
            </a:r>
          </a:p>
          <a:p>
            <a:pPr>
              <a:spcAft>
                <a:spcPts val="1200"/>
              </a:spcAft>
            </a:pPr>
            <a:r>
              <a:rPr b="1">
                <a:solidFill>
                  <a:srgbClr val="0284C7"/>
                </a:solidFill>
              </a:rPr>
              <a:t>• Sysmon Görünürlüğü (Görsel Kanıt): </a:t>
            </a:r>
            <a:r>
              <a:rPr>
                <a:solidFill>
                  <a:srgbClr val="1E293B"/>
                </a:solidFill>
              </a:rPr>
              <a:t>Sysmon/Operational altında Event ID 1 (Process Create) ile 1:40:37 PM (UTC: 11:40:36) tarihinde 'notepad.exe' sürecinin başlatıldığı net biçimde yakalandı.</a:t>
            </a:r>
          </a:p>
          <a:p>
            <a:pPr>
              <a:spcAft>
                <a:spcPts val="1200"/>
              </a:spcAft>
            </a:pPr>
            <a:r>
              <a:rPr b="1">
                <a:solidFill>
                  <a:srgbClr val="0284C7"/>
                </a:solidFill>
              </a:rPr>
              <a:t>• Süreç İlişkisi &amp; Üst Süreç (PPID): </a:t>
            </a:r>
            <a:r>
              <a:rPr>
                <a:solidFill>
                  <a:srgbClr val="1E293B"/>
                </a:solidFill>
              </a:rPr>
              <a:t>Sysmon sayesinde uygulamanın 'cmd.exe' üzerinden hangi kullanıcı/SYSTEM bağlamında çağrıldığı tespit edilerek saldırı izi sürülebilir.</a:t>
            </a:r>
          </a:p>
          <a:p>
            <a:pPr>
              <a:spcAft>
                <a:spcPts val="1200"/>
              </a:spcAft>
            </a:pPr>
            <a:r>
              <a:rPr b="1">
                <a:solidFill>
                  <a:srgbClr val="0284C7"/>
                </a:solidFill>
              </a:rPr>
              <a:t>• Görünürlük Farkı: </a:t>
            </a:r>
            <a:r>
              <a:rPr>
                <a:solidFill>
                  <a:srgbClr val="1E293B"/>
                </a:solidFill>
              </a:rPr>
              <a:t>Sıkılaştırma olayı engellemeye çalışırken; Sysmon gibi araçlar şeffaf kayıt tutarak görünürlük boşluklarını kapatır.</a:t>
            </a:r>
          </a:p>
        </p:txBody>
      </p:sp>
      <p:pic>
        <p:nvPicPr>
          <p:cNvPr id="4" name="Picture 3" descr="input_fil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41806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7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2400"/>
              <a:t>KANIT NEDEN KAYBOLABİLİR?</a:t>
            </a:r>
          </a:p>
          <a:p>
            <a:pPr>
              <a:spcBef>
                <a:spcPts val="300"/>
              </a:spcBef>
              <a:defRPr sz="1300" b="1">
                <a:solidFill>
                  <a:srgbClr val="0284C7"/>
                </a:solidFill>
              </a:defRPr>
            </a:pPr>
            <a:r>
              <a:rPr sz="2400"/>
              <a:t>Log Rotation, Üzerine Yazma (Overwrite) ve Saklama Süreleri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39857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>
                <a:solidFill>
                  <a:srgbClr val="0284C7"/>
                </a:solidFill>
              </a:rPr>
              <a:t>• Kanıtın Zaman Aşımı: </a:t>
            </a:r>
            <a:r>
              <a:rPr>
                <a:solidFill>
                  <a:srgbClr val="1E293B"/>
                </a:solidFill>
              </a:rPr>
              <a:t>Olay iki ay önce gerçekleştiyse loglar hâlâ duruyor mu? Saklama sınırları soruşturmanın kapsamını belirler.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0284C7"/>
                </a:solidFill>
              </a:rPr>
              <a:t>• Windows EVTX &amp; Sysmon Sınırı: </a:t>
            </a:r>
            <a:r>
              <a:rPr>
                <a:solidFill>
                  <a:srgbClr val="1E293B"/>
                </a:solidFill>
              </a:rPr>
              <a:t>Boyut limitine ulaşıldığında 'Overwrite oldest events' devreye girer. Sysmon yüksek hacimli log ürettiğinden eski kayıtlar günler/haftalar içinde silinebilir.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0284C7"/>
                </a:solidFill>
              </a:rPr>
              <a:t>• Linux Journald &amp; Logrotate: </a:t>
            </a:r>
            <a:r>
              <a:rPr>
                <a:solidFill>
                  <a:srgbClr val="1E293B"/>
                </a:solidFill>
              </a:rPr>
              <a:t>systemd-journald disk kota limitleri ve /var/log altındaki logrotate mekanizmaları eski arşivleri periyodik olarak temizler.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0284C7"/>
                </a:solidFill>
              </a:rPr>
              <a:t>• Somut Kanıtlar (Görseller): </a:t>
            </a:r>
            <a:r>
              <a:rPr>
                <a:solidFill>
                  <a:srgbClr val="1E293B"/>
                </a:solidFill>
              </a:rPr>
              <a:t>192.168.10.20'den gelen başarısız SSH denemeleri (journalctl -u ssh) ve 'sudo /usr/bin/apt update' yetki yükseltme kayıtları.</a:t>
            </a:r>
          </a:p>
        </p:txBody>
      </p:sp>
      <p:pic>
        <p:nvPicPr>
          <p:cNvPr id="4" name="Picture 3" descr="input_fil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3306395"/>
          </a:xfrm>
          <a:prstGeom prst="rect">
            <a:avLst/>
          </a:prstGeom>
        </p:spPr>
      </p:pic>
      <p:pic>
        <p:nvPicPr>
          <p:cNvPr id="5" name="Picture 4" descr="input_fil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846320"/>
            <a:ext cx="5577840" cy="12686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21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ÖZET VE DEĞERLENDİRME</a:t>
            </a:r>
          </a:p>
          <a:p>
            <a:pPr algn="ctr">
              <a:spcBef>
                <a:spcPts val="1800"/>
              </a:spcBef>
              <a:defRPr sz="1500">
                <a:solidFill>
                  <a:srgbClr val="1E293B"/>
                </a:solidFill>
              </a:defRPr>
            </a:pPr>
            <a:r>
              <a:rPr sz="1600"/>
              <a:t>1. Bir analistin değeri, sistemdeki kayıt kadar neyin kaydedilmediğini de bilmesindedir.</a:t>
            </a:r>
            <a:br>
              <a:rPr sz="1600"/>
            </a:br>
            <a:r>
              <a:rPr sz="1600"/>
              <a:t>2. Görünürlük araçları (Sysmon) olmadan saldırı izlerini derinlemesine </a:t>
            </a:r>
            <a:r>
              <a:rPr sz="1600"/>
              <a:t>sürmek </a:t>
            </a:r>
            <a:r>
              <a:rPr lang="tr-TR" sz="1600" dirty="0" smtClean="0"/>
              <a:t>zordur</a:t>
            </a:r>
            <a:r>
              <a:rPr sz="1600" smtClean="0"/>
              <a:t>.</a:t>
            </a:r>
            <a:r>
              <a:rPr sz="1600"/>
              <a:t/>
            </a:r>
            <a:br>
              <a:rPr sz="1600"/>
            </a:br>
            <a:r>
              <a:rPr sz="1600"/>
              <a:t>3. Log rotasyonu ve overwrite kuralları, adli soruşturmanın zaman sınırını belirler.</a:t>
            </a:r>
          </a:p>
          <a:p>
            <a:pPr algn="ctr">
              <a:spcBef>
                <a:spcPts val="2600"/>
              </a:spcBef>
              <a:defRPr sz="2000" b="1">
                <a:solidFill>
                  <a:srgbClr val="0284C7"/>
                </a:solidFill>
              </a:defRPr>
            </a:pPr>
            <a:r>
              <a:t>Teşekkür Ederim • Sorularınız?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385</Words>
  <Application>Microsoft Macintosh PowerPoint</Application>
  <PresentationFormat>Özel</PresentationFormat>
  <Paragraphs>24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6" baseType="lpstr">
      <vt:lpstr>Office Theme</vt:lpstr>
      <vt:lpstr>Slayt 1</vt:lpstr>
      <vt:lpstr>Slayt 2</vt:lpstr>
      <vt:lpstr>Slayt 3</vt:lpstr>
      <vt:lpstr>Slayt 4</vt:lpstr>
      <vt:lpstr>Slayt 5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subject/>
  <dc:creator/>
  <cp:keywords/>
  <dc:description>generated using python-pptx</dc:description>
  <cp:lastModifiedBy>Erdem</cp:lastModifiedBy>
  <cp:revision>2</cp:revision>
  <dcterms:created xsi:type="dcterms:W3CDTF">2013-01-27T09:14:16Z</dcterms:created>
  <dcterms:modified xsi:type="dcterms:W3CDTF">2026-08-28T13:52:20Z</dcterms:modified>
  <cp:category/>
</cp:coreProperties>
</file>