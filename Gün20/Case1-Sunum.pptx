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11"/>
    <p:restoredTop sz="94610"/>
  </p:normalViewPr>
  <p:slideViewPr>
    <p:cSldViewPr snapToGrid="0" snapToObjects="1">
      <p:cViewPr varScale="1">
        <p:scale>
          <a:sx n="97" d="100"/>
          <a:sy n="97" d="100"/>
        </p:scale>
        <p:origin x="-115" y="-15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bugün sizlere INC-2026-0824-01 numaralı olayı, yani web01 sunucusuna yapılan SSH kimlik doğrulama saldırısını sunacağım. Bu benim ilk vakam ve tamamen Splunk üzerinde kanıtlarla ilerledim. Sunumun sonunda ne olduğunu, nasıl tespit ettiğimi, hangi kanıtlara sahip olduğumu ve ne yapılması gerektiğini net bir şekilde anlatmış olacağım.</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Olay, web01 sunucusunun otomatik izleme sisteminin açtığı bir alarmla başladı: kısa sürede çok sayıda başarısız SSH girişi. web01 kritik bir detaya sahip: bu sunucuya normalde yalnızca şirket iç ağından erişilebiliyor. Yani dışarıdan gelecek herhangi bir bağlantı zaten başlı başına şüpheli. Görevim, bunun gerçek bir saldırı mı yoksa yanlış alarm mı olduğunu kanıtlarla ortaya koymaktı.</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adım veriyi doğru şekilde Splunk'a almaktı. Case1-auth.log dosyasını Add Data Upload ile yükledim ve linux_secure sourcetype'ını ayarladım. Yükleme sonrası ilk yaptığım şey her zaman doğrulama: burada gördüğünüz gibi 155 event geldiğini teyit ettim. Bu adım atlanırsa üzerine kurduğumuz her analiz sağlam bir temelden yoksun kalır.</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Şimdi asıl soruya geçelim: saldırı nereden geldi? Bu sorguda başarısız girişleri IP'ye göre grupladım. Sonuç çok netti: tüm 91 başarısız deneme tek bir IP adresinden, 203.0.113.66'dan geldi. Bu, dağınık bir aktivite değil, tek kaynaktan yürütülen yoğun bir saldırıydı.</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Peki saldırgan hangi hesapları hedef aldı? Tabloya baktığımızda net bir örüntü görüyoruz: admin, oracle, postgres, test gibi web01'de hiç var olmayan dört hesap denenmiş — bunlar tipik, sözlük tabanlı bir saldırı listesi. Ama aynı zamanda root, ubuntu ve deploy gibi gerçekten var olan hesaplara karşı da deneme yapılmış. En çok denenen hesap 19 kereyle deploy oldu — ve birazdan göreceğimiz gibi bu tesadüf değildi.</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Kritik soru: bu denemelerden biri başarılı oldu mu? Evet. 91. denemenin hemen ardından, saat 14:25:53'te, aynı IP'den deploy hesabıyla başarılı bir SSH girişi gerçekleşti. Yani saldırgan sonunda doğru parolayı buldu ve içeri girdi.</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Burası sunumun en kritik noktası. deploy hesabının o gün yaptığı tüm girişleri zaman sırasına göre listelediğimde şunu gördüm: sabah 08:03 ve öğlen 11:12'de hesap iç ağ IP'si olan 10.0.0.50'den giriş yapmış — yani normal, beklenen davranış. Ama 14:25:53'teki giriş tamamen farklı bir IP'den, 203.0.113.66'dan geldi. web01'in yalnızca iç ağdan erişildiğini hatırlarsak, bu net bir anomali: bu girişi deploy kullanıcısının kendisi yapmadı, hesabı ele geçiren saldırgan yaptı.</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Bütün bu olayı zaman çizelgesinde topladığımda çarpıcı bir şey ortaya çıkıyor: keşiften — yani ilk parola denemesinden — hesabın tamamen ele geçirilmesine kadar sadece dört dakika geçmiş. Ve ele geçirmeden kalıcılık sağlanmasına kadar da sadece sekiz saniye. Bu, otomatize bir saldırının hızını gösteriyor.</a:t>
            </a:r>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Peki saldırgan içeri girdikten sonra ne yaptı? İki komut çalıştırdı. Önce /etc/shadow dosyasını okudu — bu, sistemdeki tüm kullanıcıların parola hash'lerine erişme girişimidir. Hemen ardından, root yetkisiyle svc-update adında yeni bir kullanıcı hesabı oluşturdu. Bu, klasik bir kalıcılık — persistence — tekniğidir: ilk giriş noktası kapatılsa bile saldırganın sisteme erişimi devam eder.</a:t>
            </a:r>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davranışları MITRE ATT&amp;CK çerçevesine oturttuğumda dört teknik görüyorum. Birincil teknik T1110.001, yani parola tahmin saldırısı. Bunun üzerine T1078 ile geçerli bir hesabın kullanılması, T1003.008 ile credential dumping, ve son olarak T1136.001 ile yerel hesap oluşturma geliyor. Bu dört teknik birlikte klasik bir saldırı zinciri oluşturuyor: kaba kuvvet, ele geçirme, kimlik bilgisi erişimi, kalıcılık.</a:t>
            </a:r>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Şimdi bunun kurum için ne anlama geldiğine gelelim. “91 başarısız giriş var” demek bir bulgudur. Ama bunun bir hesabın gerçekten ele geçirilmesi, parola hash'lerine erişim ve kalıcı bir arka kapı ile sonuçlanmış olması bir etki değerlendirmesidir. Dört ana risk görüyorum: doğrulanmış hesap ele geçirme, olası kimlik bilgisi ifşası, kalıcı arka kapı riski ve web01'in iç ağa bağlı olması nedeniyle yanal hareket riski.</a:t>
            </a:r>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olarak ne yapılması gerektiğine gelelim. Acil olarak, ilk 24 saatte: deploy hesabının parolasını değiştirmeli ve mümkünse anahtar tabanlı kimlik doğrulamaya geçmeliyiz; svc-update hesabını silmeli ve başka izinsiz değişiklik olup olmadığını kontrol etmeliyiz; ve 203.0.113.66'yı güvenlik duvarında engellemeliyiz. Daha kalıcı olarak da: SSH erişimini yalnızca iç ağla sınırlamalı, ardışık başarısız denemelerde otomatik engelleme kurmalı ve MFA'yı zorunlu kılmalıyız.</a:t>
            </a:r>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 otomatik alarm doğru çalıştı, ama tespit ile hesabın ele geçirilmesi arasında sadece dört dakika vardı. Bu bize, sadece alarm üretmenin yetmediğini, gerçek zamanlı otomatik engellemeye ihtiyacımız olduğunu gösteriyor. Kanıt zincirinin tamamı Splunk üzerinde doğrulandı ve INC-2026-0824-01 olay raporunda eksiksiz belgelendi. Teşekkür ederim, sorularınızı bekliyorum.</a:t>
            </a:r>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51F"/>
        </a:solidFill>
        <a:effectLst/>
      </p:bgPr>
    </p:bg>
    <p:spTree>
      <p:nvGrpSpPr>
        <p:cNvPr id="1" name=""/>
        <p:cNvGrpSpPr/>
        <p:nvPr/>
      </p:nvGrpSpPr>
      <p:grpSpPr>
        <a:xfrm>
          <a:off x="0" y="0"/>
          <a:ext cx="0" cy="0"/>
          <a:chOff x="0" y="0"/>
          <a:chExt cx="0" cy="0"/>
        </a:xfrm>
      </p:grpSpPr>
      <p:sp>
        <p:nvSpPr>
          <p:cNvPr id="33" name="Text 31"/>
          <p:cNvSpPr txBox="1"/>
          <p:nvPr/>
        </p:nvSpPr>
        <p:spPr>
          <a:xfrm>
            <a:off x="640080" y="1828800"/>
            <a:ext cx="9875520" cy="146304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SSH Brute-Force ve Hesap Ele Geçirme</a:t>
            </a:r>
            <a:endParaRPr lang="en-US" sz="4400" dirty="0"/>
          </a:p>
        </p:txBody>
      </p:sp>
      <p:sp>
        <p:nvSpPr>
          <p:cNvPr id="34" name="Text 32"/>
          <p:cNvSpPr txBox="1"/>
          <p:nvPr/>
        </p:nvSpPr>
        <p:spPr>
          <a:xfrm>
            <a:off x="640080" y="3246120"/>
            <a:ext cx="9601200" cy="457200"/>
          </a:xfrm>
          <a:prstGeom prst="rect">
            <a:avLst/>
          </a:prstGeom>
          <a:noFill/>
          <a:ln/>
        </p:spPr>
        <p:txBody>
          <a:bodyPr wrap="square" lIns="0" tIns="0" rIns="0" bIns="0" rtlCol="0" anchor="ctr"/>
          <a:lstStyle/>
          <a:p>
            <a:pPr marL="0" indent="0">
              <a:buNone/>
            </a:pPr>
            <a:r>
              <a:rPr lang="en-US" sz="1900" dirty="0">
                <a:solidFill>
                  <a:srgbClr val="C7CEDA"/>
                </a:solidFill>
                <a:latin typeface="Calibri" pitchFamily="34" charset="0"/>
                <a:ea typeface="Calibri" pitchFamily="34" charset="-122"/>
                <a:cs typeface="Calibri" pitchFamily="34" charset="-120"/>
              </a:rPr>
              <a:t>web01 Sunucusu — Olay İncelemesi ve Bulgular</a:t>
            </a:r>
            <a:endParaRPr lang="en-US" sz="1900" dirty="0"/>
          </a:p>
        </p:txBody>
      </p:sp>
      <p:sp>
        <p:nvSpPr>
          <p:cNvPr id="35" name="Shape 33"/>
          <p:cNvSpPr/>
          <p:nvPr/>
        </p:nvSpPr>
        <p:spPr>
          <a:xfrm>
            <a:off x="658368" y="3931920"/>
            <a:ext cx="0" cy="1371600"/>
          </a:xfrm>
          <a:prstGeom prst="line">
            <a:avLst/>
          </a:prstGeom>
          <a:noFill/>
          <a:ln w="19050">
            <a:solidFill>
              <a:srgbClr val="323C4E"/>
            </a:solidFill>
            <a:prstDash val="solid"/>
          </a:ln>
        </p:spPr>
      </p:sp>
      <p:sp>
        <p:nvSpPr>
          <p:cNvPr id="36" name="Text 34"/>
          <p:cNvSpPr txBox="1"/>
          <p:nvPr/>
        </p:nvSpPr>
        <p:spPr>
          <a:xfrm>
            <a:off x="868680" y="3977640"/>
            <a:ext cx="7315200" cy="1005840"/>
          </a:xfrm>
          <a:prstGeom prst="rect">
            <a:avLst/>
          </a:prstGeom>
          <a:noFill/>
          <a:ln/>
        </p:spPr>
        <p:txBody>
          <a:bodyPr wrap="square" lIns="0" tIns="0" rIns="0" bIns="0" rtlCol="0" anchor="ctr"/>
          <a:lstStyle/>
          <a:p>
            <a:pPr marL="0" indent="0">
              <a:lnSpc>
                <a:spcPct val="130000"/>
              </a:lnSpc>
              <a:buNone/>
            </a:pPr>
            <a:r>
              <a:rPr lang="en-US" sz="1300" b="1" dirty="0" err="1" smtClean="0">
                <a:solidFill>
                  <a:srgbClr val="FFFFFF"/>
                </a:solidFill>
                <a:latin typeface="Calibri" pitchFamily="34" charset="0"/>
                <a:ea typeface="Calibri" pitchFamily="34" charset="-122"/>
                <a:cs typeface="Calibri" pitchFamily="34" charset="-120"/>
              </a:rPr>
              <a:t>Gün</a:t>
            </a:r>
            <a:r>
              <a:rPr lang="en-US" sz="1300" b="1" dirty="0" smtClean="0">
                <a:solidFill>
                  <a:srgbClr val="FFFFFF"/>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20 — İlk </a:t>
            </a:r>
            <a:r>
              <a:rPr lang="en-US" sz="1300" b="1" dirty="0" err="1">
                <a:solidFill>
                  <a:srgbClr val="FFFFFF"/>
                </a:solidFill>
                <a:latin typeface="Calibri" pitchFamily="34" charset="0"/>
                <a:ea typeface="Calibri" pitchFamily="34" charset="-122"/>
                <a:cs typeface="Calibri" pitchFamily="34" charset="-120"/>
              </a:rPr>
              <a:t>Vaka</a:t>
            </a:r>
            <a:r>
              <a:rPr lang="en-US" sz="1300" b="1" dirty="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Sunum</a:t>
            </a:r>
            <a:r>
              <a:rPr lang="tr-TR" sz="1300" b="1" dirty="0" smtClean="0">
                <a:solidFill>
                  <a:srgbClr val="FFFFFF"/>
                </a:solidFill>
                <a:latin typeface="Calibri" pitchFamily="34" charset="0"/>
                <a:ea typeface="Calibri" pitchFamily="34" charset="-122"/>
                <a:cs typeface="Calibri" pitchFamily="34" charset="-120"/>
              </a:rPr>
              <a:t>u</a:t>
            </a:r>
            <a:r>
              <a:rPr lang="en-US" sz="1300" b="1" dirty="0">
                <a:solidFill>
                  <a:srgbClr val="FFFFFF"/>
                </a:solidFill>
                <a:latin typeface="Calibri" pitchFamily="34" charset="0"/>
                <a:ea typeface="Calibri" pitchFamily="34" charset="-122"/>
                <a:cs typeface="Calibri" pitchFamily="34" charset="-120"/>
              </a:rPr>
              <a:t>
</a:t>
            </a:r>
            <a:r>
              <a:rPr lang="en-US" sz="1300" dirty="0">
                <a:solidFill>
                  <a:srgbClr val="9AA3B2"/>
                </a:solidFill>
                <a:latin typeface="Calibri" pitchFamily="34" charset="0"/>
                <a:ea typeface="Calibri" pitchFamily="34" charset="-122"/>
                <a:cs typeface="Calibri" pitchFamily="34" charset="-120"/>
              </a:rPr>
              <a:t>Kaynak veri: </a:t>
            </a:r>
            <a:r>
              <a:rPr lang="en-US" sz="1300" dirty="0" smtClean="0">
                <a:solidFill>
                  <a:srgbClr val="9AA3B2"/>
                </a:solidFill>
                <a:latin typeface="Calibri" pitchFamily="34" charset="0"/>
                <a:ea typeface="Calibri" pitchFamily="34" charset="-122"/>
                <a:cs typeface="Calibri" pitchFamily="34" charset="-120"/>
              </a:rPr>
              <a:t>Case1-auth.log</a:t>
            </a:r>
            <a:endParaRPr lang="en-US" sz="1300" dirty="0"/>
          </a:p>
          <a:p>
            <a:pPr marL="0" indent="0">
              <a:lnSpc>
                <a:spcPct val="130000"/>
              </a:lnSpc>
              <a:buNone/>
            </a:pPr>
            <a:r>
              <a:rPr lang="en-US" sz="1300" dirty="0">
                <a:solidFill>
                  <a:srgbClr val="9AA3B2"/>
                </a:solidFill>
                <a:latin typeface="Calibri" pitchFamily="34" charset="0"/>
                <a:ea typeface="Calibri" pitchFamily="34" charset="-122"/>
                <a:cs typeface="Calibri" pitchFamily="34" charset="-120"/>
              </a:rPr>
              <a:t>İnceleme platformu: Splunk Enterprise</a:t>
            </a:r>
            <a:endParaRPr lang="en-US" sz="13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OLAYIN ÇERÇEVESI</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Ne oldu, hangi sistem etkilendi?</a:t>
            </a:r>
            <a:endParaRPr lang="en-US" sz="3200" dirty="0"/>
          </a:p>
        </p:txBody>
      </p:sp>
      <p:sp>
        <p:nvSpPr>
          <p:cNvPr id="4" name="Text 2"/>
          <p:cNvSpPr txBox="1"/>
          <p:nvPr/>
        </p:nvSpPr>
        <p:spPr>
          <a:xfrm>
            <a:off x="548640" y="1691640"/>
            <a:ext cx="6400800" cy="4023360"/>
          </a:xfrm>
          <a:prstGeom prst="rect">
            <a:avLst/>
          </a:prstGeom>
          <a:noFill/>
          <a:ln/>
        </p:spPr>
        <p:txBody>
          <a:bodyPr wrap="square" lIns="0" tIns="0" rIns="0" bIns="0" rtlCol="0" anchor="ctr"/>
          <a:lstStyle/>
          <a:p>
            <a:pPr marL="342900" indent="-342900">
              <a:lnSpc>
                <a:spcPct val="150000"/>
              </a:lnSpc>
              <a:spcAft>
                <a:spcPts val="1200"/>
              </a:spcAft>
              <a:buSzPct val="100000"/>
              <a:buChar char="•"/>
            </a:pPr>
            <a:r>
              <a:rPr lang="en-US" sz="1500" b="1" dirty="0">
                <a:solidFill>
                  <a:srgbClr val="1B2430"/>
                </a:solidFill>
                <a:latin typeface="Calibri" pitchFamily="34" charset="0"/>
                <a:ea typeface="Calibri" pitchFamily="34" charset="-122"/>
                <a:cs typeface="Calibri" pitchFamily="34" charset="-120"/>
              </a:rPr>
              <a:t>Kaynak: </a:t>
            </a:r>
            <a:r>
              <a:rPr lang="en-US" sz="1500" dirty="0">
                <a:solidFill>
                  <a:srgbClr val="5B6472"/>
                </a:solidFill>
                <a:latin typeface="Calibri" pitchFamily="34" charset="0"/>
                <a:ea typeface="Calibri" pitchFamily="34" charset="-122"/>
                <a:cs typeface="Calibri" pitchFamily="34" charset="-120"/>
              </a:rPr>
              <a:t>Otomatik izleme alarmı — “web01 üzerinde çok sayıda başarısız SSH kimlik doğrulama”
</a:t>
            </a:r>
            <a:r>
              <a:rPr lang="en-US" sz="1500" b="1" dirty="0">
                <a:solidFill>
                  <a:srgbClr val="1B2430"/>
                </a:solidFill>
                <a:latin typeface="Calibri" pitchFamily="34" charset="0"/>
                <a:ea typeface="Calibri" pitchFamily="34" charset="-122"/>
                <a:cs typeface="Calibri" pitchFamily="34" charset="-120"/>
              </a:rPr>
              <a:t>Etkilenen sistem: </a:t>
            </a:r>
            <a:r>
              <a:rPr lang="en-US" sz="1500" dirty="0">
                <a:solidFill>
                  <a:srgbClr val="5B6472"/>
                </a:solidFill>
                <a:latin typeface="Calibri" pitchFamily="34" charset="0"/>
                <a:ea typeface="Calibri" pitchFamily="34" charset="-122"/>
                <a:cs typeface="Calibri" pitchFamily="34" charset="-120"/>
              </a:rPr>
              <a:t>web01 — iç uygulama sunucusu
</a:t>
            </a:r>
            <a:r>
              <a:rPr lang="en-US" sz="1500" b="1" dirty="0">
                <a:solidFill>
                  <a:srgbClr val="1B2430"/>
                </a:solidFill>
                <a:latin typeface="Calibri" pitchFamily="34" charset="0"/>
                <a:ea typeface="Calibri" pitchFamily="34" charset="-122"/>
                <a:cs typeface="Calibri" pitchFamily="34" charset="-120"/>
              </a:rPr>
              <a:t>Normal erişim kuralı: </a:t>
            </a:r>
            <a:r>
              <a:rPr lang="en-US" sz="1500" dirty="0">
                <a:solidFill>
                  <a:srgbClr val="5B6472"/>
                </a:solidFill>
                <a:latin typeface="Calibri" pitchFamily="34" charset="0"/>
                <a:ea typeface="Calibri" pitchFamily="34" charset="-122"/>
                <a:cs typeface="Calibri" pitchFamily="34" charset="-120"/>
              </a:rPr>
              <a:t>Sunucuya yalnızca şirket iç ağından erişilebilir
</a:t>
            </a:r>
            <a:r>
              <a:rPr lang="en-US" sz="1500" b="1" dirty="0">
                <a:solidFill>
                  <a:srgbClr val="1B2430"/>
                </a:solidFill>
                <a:latin typeface="Calibri" pitchFamily="34" charset="0"/>
                <a:ea typeface="Calibri" pitchFamily="34" charset="-122"/>
                <a:cs typeface="Calibri" pitchFamily="34" charset="-120"/>
              </a:rPr>
              <a:t>İncelenen veri: </a:t>
            </a:r>
            <a:r>
              <a:rPr lang="en-US" sz="1500" dirty="0">
                <a:solidFill>
                  <a:srgbClr val="5B6472"/>
                </a:solidFill>
                <a:latin typeface="Calibri" pitchFamily="34" charset="0"/>
                <a:ea typeface="Calibri" pitchFamily="34" charset="-122"/>
                <a:cs typeface="Calibri" pitchFamily="34" charset="-120"/>
              </a:rPr>
              <a:t>Case1-auth.log, Splunk'a Add Data &gt; Upload ile yüklendi (155 event)
</a:t>
            </a:r>
            <a:r>
              <a:rPr lang="en-US" sz="1500" b="1" dirty="0">
                <a:solidFill>
                  <a:srgbClr val="1B2430"/>
                </a:solidFill>
                <a:latin typeface="Calibri" pitchFamily="34" charset="0"/>
                <a:ea typeface="Calibri" pitchFamily="34" charset="-122"/>
                <a:cs typeface="Calibri" pitchFamily="34" charset="-120"/>
              </a:rPr>
              <a:t>Görev: </a:t>
            </a:r>
            <a:r>
              <a:rPr lang="en-US" sz="1500" dirty="0">
                <a:solidFill>
                  <a:srgbClr val="5B6472"/>
                </a:solidFill>
                <a:latin typeface="Calibri" pitchFamily="34" charset="0"/>
                <a:ea typeface="Calibri" pitchFamily="34" charset="-122"/>
                <a:cs typeface="Calibri" pitchFamily="34" charset="-120"/>
              </a:rPr>
              <a:t>Bunun gerçek bir saldırı olup olmadığını ve sonucunu kanıtlarla ortaya koymak</a:t>
            </a:r>
            <a:endParaRPr lang="en-US" sz="1500" dirty="0"/>
          </a:p>
        </p:txBody>
      </p:sp>
      <p:sp>
        <p:nvSpPr>
          <p:cNvPr id="5" name="Shape 3"/>
          <p:cNvSpPr/>
          <p:nvPr/>
        </p:nvSpPr>
        <p:spPr>
          <a:xfrm>
            <a:off x="7406640" y="1691640"/>
            <a:ext cx="4206240" cy="4023360"/>
          </a:xfrm>
          <a:prstGeom prst="roundRect">
            <a:avLst>
              <a:gd name="adj" fmla="val 1818"/>
            </a:avLst>
          </a:prstGeom>
          <a:solidFill>
            <a:srgbClr val="10151F"/>
          </a:solidFill>
          <a:ln w="12700">
            <a:solidFill>
              <a:srgbClr val="10151F"/>
            </a:solidFill>
            <a:prstDash val="solid"/>
          </a:ln>
        </p:spPr>
      </p:sp>
      <p:sp>
        <p:nvSpPr>
          <p:cNvPr id="6" name="Text 4"/>
          <p:cNvSpPr txBox="1"/>
          <p:nvPr/>
        </p:nvSpPr>
        <p:spPr>
          <a:xfrm>
            <a:off x="7680960" y="1965960"/>
            <a:ext cx="3657600" cy="320040"/>
          </a:xfrm>
          <a:prstGeom prst="rect">
            <a:avLst/>
          </a:prstGeom>
          <a:noFill/>
          <a:ln/>
        </p:spPr>
        <p:txBody>
          <a:bodyPr wrap="square" lIns="0" tIns="0" rIns="0" bIns="0" rtlCol="0" anchor="ctr"/>
          <a:lstStyle/>
          <a:p>
            <a:pPr marL="0" indent="0">
              <a:buNone/>
            </a:pPr>
            <a:r>
              <a:rPr lang="en-US" sz="1300" b="1" kern="0" spc="200" dirty="0">
                <a:solidFill>
                  <a:srgbClr val="E63946"/>
                </a:solidFill>
                <a:latin typeface="Calibri" pitchFamily="34" charset="0"/>
                <a:ea typeface="Calibri" pitchFamily="34" charset="-122"/>
                <a:cs typeface="Calibri" pitchFamily="34" charset="-120"/>
              </a:rPr>
              <a:t>YÜKSEK ÖNEM</a:t>
            </a:r>
            <a:endParaRPr lang="en-US" sz="1300" dirty="0"/>
          </a:p>
        </p:txBody>
      </p:sp>
      <p:sp>
        <p:nvSpPr>
          <p:cNvPr id="7" name="Text 5"/>
          <p:cNvSpPr txBox="1"/>
          <p:nvPr/>
        </p:nvSpPr>
        <p:spPr>
          <a:xfrm>
            <a:off x="7680960" y="2331720"/>
            <a:ext cx="36576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web01</a:t>
            </a:r>
            <a:endParaRPr lang="en-US" sz="3400" dirty="0"/>
          </a:p>
        </p:txBody>
      </p:sp>
      <p:sp>
        <p:nvSpPr>
          <p:cNvPr id="8" name="Text 6"/>
          <p:cNvSpPr txBox="1"/>
          <p:nvPr/>
        </p:nvSpPr>
        <p:spPr>
          <a:xfrm>
            <a:off x="7680960" y="2999232"/>
            <a:ext cx="3566160" cy="365760"/>
          </a:xfrm>
          <a:prstGeom prst="rect">
            <a:avLst/>
          </a:prstGeom>
          <a:noFill/>
          <a:ln/>
        </p:spPr>
        <p:txBody>
          <a:bodyPr wrap="square" lIns="0" tIns="0" rIns="0" bIns="0" rtlCol="0" anchor="ctr"/>
          <a:lstStyle/>
          <a:p>
            <a:pPr marL="0" indent="0">
              <a:buNone/>
            </a:pPr>
            <a:r>
              <a:rPr lang="en-US" sz="1200" dirty="0">
                <a:solidFill>
                  <a:srgbClr val="9AA3B2"/>
                </a:solidFill>
                <a:latin typeface="Calibri" pitchFamily="34" charset="0"/>
                <a:ea typeface="Calibri" pitchFamily="34" charset="-122"/>
                <a:cs typeface="Calibri" pitchFamily="34" charset="-120"/>
              </a:rPr>
              <a:t>Linux sunucu · iç uygulama katmanı</a:t>
            </a:r>
            <a:endParaRPr lang="en-US" sz="1200" dirty="0"/>
          </a:p>
        </p:txBody>
      </p:sp>
      <p:sp>
        <p:nvSpPr>
          <p:cNvPr id="9" name="Shape 7"/>
          <p:cNvSpPr/>
          <p:nvPr/>
        </p:nvSpPr>
        <p:spPr>
          <a:xfrm>
            <a:off x="7680960" y="3520440"/>
            <a:ext cx="3566160" cy="0"/>
          </a:xfrm>
          <a:prstGeom prst="line">
            <a:avLst/>
          </a:prstGeom>
          <a:noFill/>
          <a:ln w="12700">
            <a:solidFill>
              <a:srgbClr val="2B3547"/>
            </a:solidFill>
            <a:prstDash val="solid"/>
          </a:ln>
        </p:spPr>
      </p:sp>
      <p:sp>
        <p:nvSpPr>
          <p:cNvPr id="10" name="Text 8"/>
          <p:cNvSpPr txBox="1"/>
          <p:nvPr/>
        </p:nvSpPr>
        <p:spPr>
          <a:xfrm>
            <a:off x="7680960" y="3703320"/>
            <a:ext cx="35661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Sadece iç ağdan erişim beklenir</a:t>
            </a:r>
            <a:endParaRPr lang="en-US" sz="1300" dirty="0"/>
          </a:p>
        </p:txBody>
      </p:sp>
      <p:sp>
        <p:nvSpPr>
          <p:cNvPr id="11" name="Text 9"/>
          <p:cNvSpPr txBox="1"/>
          <p:nvPr/>
        </p:nvSpPr>
        <p:spPr>
          <a:xfrm>
            <a:off x="7680960" y="4069080"/>
            <a:ext cx="3566160" cy="731520"/>
          </a:xfrm>
          <a:prstGeom prst="rect">
            <a:avLst/>
          </a:prstGeom>
          <a:noFill/>
          <a:ln/>
        </p:spPr>
        <p:txBody>
          <a:bodyPr wrap="square" lIns="0" tIns="0" rIns="0" bIns="0" rtlCol="0" anchor="ctr"/>
          <a:lstStyle/>
          <a:p>
            <a:pPr marL="0" indent="0">
              <a:lnSpc>
                <a:spcPct val="130000"/>
              </a:lnSpc>
              <a:buNone/>
            </a:pPr>
            <a:r>
              <a:rPr lang="en-US" sz="1200" dirty="0">
                <a:solidFill>
                  <a:srgbClr val="9AA3B2"/>
                </a:solidFill>
                <a:latin typeface="Calibri" pitchFamily="34" charset="0"/>
                <a:ea typeface="Calibri" pitchFamily="34" charset="-122"/>
                <a:cs typeface="Calibri" pitchFamily="34" charset="-120"/>
              </a:rPr>
              <a:t>Dışarıdan gelen herhangi bir giriş denemesi, tanımı gereği anomalidir.</a:t>
            </a:r>
            <a:endParaRPr lang="en-US" sz="1200" dirty="0"/>
          </a:p>
        </p:txBody>
      </p:sp>
      <p:sp>
        <p:nvSpPr>
          <p:cNvPr id="13" name="Text 11"/>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YÖNTEM</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Veri Splunk'a yüklendi, alanlar doğrulandı</a:t>
            </a:r>
            <a:endParaRPr lang="en-US" sz="3200" dirty="0"/>
          </a:p>
        </p:txBody>
      </p:sp>
      <p:sp>
        <p:nvSpPr>
          <p:cNvPr id="4" name="Text 2"/>
          <p:cNvSpPr txBox="1"/>
          <p:nvPr/>
        </p:nvSpPr>
        <p:spPr>
          <a:xfrm>
            <a:off x="548640" y="1645920"/>
            <a:ext cx="3566160" cy="1463040"/>
          </a:xfrm>
          <a:prstGeom prst="rect">
            <a:avLst/>
          </a:prstGeom>
          <a:noFill/>
          <a:ln/>
        </p:spPr>
        <p:txBody>
          <a:bodyPr wrap="square" lIns="0" tIns="0" rIns="0" bIns="0" rtlCol="0" anchor="ctr"/>
          <a:lstStyle/>
          <a:p>
            <a:pPr marL="0" indent="0">
              <a:lnSpc>
                <a:spcPct val="135000"/>
              </a:lnSpc>
              <a:buNone/>
            </a:pPr>
            <a:r>
              <a:rPr lang="en-US" sz="1350" dirty="0">
                <a:solidFill>
                  <a:srgbClr val="5B6472"/>
                </a:solidFill>
                <a:latin typeface="Calibri" pitchFamily="34" charset="0"/>
                <a:ea typeface="Calibri" pitchFamily="34" charset="-122"/>
                <a:cs typeface="Calibri" pitchFamily="34" charset="-120"/>
              </a:rPr>
              <a:t>Case1-auth.log dosyası Add Data &gt; Upload ile Splunk'a alındı (sourcetype=linux_secure). Yükleme sonrası ilk adım her zaman doğrulamadır: doğru sayıda event geldi mi, zaman damgaları doğru ayrıştı mı?</a:t>
            </a:r>
            <a:endParaRPr lang="en-US" sz="1350" dirty="0"/>
          </a:p>
        </p:txBody>
      </p:sp>
      <p:sp>
        <p:nvSpPr>
          <p:cNvPr id="5" name="Shape 3"/>
          <p:cNvSpPr/>
          <p:nvPr/>
        </p:nvSpPr>
        <p:spPr>
          <a:xfrm>
            <a:off x="548640" y="3246120"/>
            <a:ext cx="3566160" cy="594360"/>
          </a:xfrm>
          <a:prstGeom prst="roundRect">
            <a:avLst>
              <a:gd name="adj" fmla="val 9231"/>
            </a:avLst>
          </a:prstGeom>
          <a:solidFill>
            <a:srgbClr val="26344A"/>
          </a:solidFill>
          <a:ln w="12700">
            <a:solidFill>
              <a:srgbClr val="26344A"/>
            </a:solidFill>
            <a:prstDash val="solid"/>
          </a:ln>
        </p:spPr>
      </p:sp>
      <p:sp>
        <p:nvSpPr>
          <p:cNvPr id="6" name="Text 4"/>
          <p:cNvSpPr txBox="1"/>
          <p:nvPr/>
        </p:nvSpPr>
        <p:spPr>
          <a:xfrm>
            <a:off x="731520" y="3374136"/>
            <a:ext cx="3200400" cy="338328"/>
          </a:xfrm>
          <a:prstGeom prst="rect">
            <a:avLst/>
          </a:prstGeom>
          <a:noFill/>
          <a:ln/>
        </p:spPr>
        <p:txBody>
          <a:bodyPr wrap="square" lIns="0" tIns="0" rIns="0" bIns="0" rtlCol="0" anchor="t"/>
          <a:lstStyle/>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index=main source="Case1-auth.log"</a:t>
            </a:r>
            <a:endParaRPr lang="en-US" sz="1100" dirty="0"/>
          </a:p>
        </p:txBody>
      </p:sp>
      <p:sp>
        <p:nvSpPr>
          <p:cNvPr id="7" name="Shape 5"/>
          <p:cNvSpPr/>
          <p:nvPr/>
        </p:nvSpPr>
        <p:spPr>
          <a:xfrm>
            <a:off x="548640" y="4069080"/>
            <a:ext cx="3566160" cy="1600200"/>
          </a:xfrm>
          <a:prstGeom prst="roundRect">
            <a:avLst>
              <a:gd name="adj" fmla="val 3429"/>
            </a:avLst>
          </a:prstGeom>
          <a:solidFill>
            <a:srgbClr val="26344A"/>
          </a:solidFill>
          <a:ln w="12700">
            <a:solidFill>
              <a:srgbClr val="26344A"/>
            </a:solidFill>
            <a:prstDash val="solid"/>
          </a:ln>
        </p:spPr>
      </p:sp>
      <p:sp>
        <p:nvSpPr>
          <p:cNvPr id="8" name="Text 6"/>
          <p:cNvSpPr txBox="1"/>
          <p:nvPr/>
        </p:nvSpPr>
        <p:spPr>
          <a:xfrm>
            <a:off x="777240" y="4178808"/>
            <a:ext cx="3108960" cy="1051560"/>
          </a:xfrm>
          <a:prstGeom prst="rect">
            <a:avLst/>
          </a:prstGeom>
          <a:noFill/>
          <a:ln/>
        </p:spPr>
        <p:txBody>
          <a:bodyPr wrap="square" lIns="0" tIns="0" rIns="0" bIns="0" rtlCol="0" anchor="ctr"/>
          <a:lstStyle/>
          <a:p>
            <a:pPr marL="0" indent="0">
              <a:buNone/>
            </a:pPr>
            <a:r>
              <a:rPr lang="en-US" sz="3400" b="1" dirty="0">
                <a:solidFill>
                  <a:srgbClr val="E63946"/>
                </a:solidFill>
                <a:latin typeface="Cambria" pitchFamily="34" charset="0"/>
                <a:ea typeface="Cambria" pitchFamily="34" charset="-122"/>
                <a:cs typeface="Cambria" pitchFamily="34" charset="-120"/>
              </a:rPr>
              <a:t>155</a:t>
            </a:r>
            <a:endParaRPr lang="en-US" sz="3400" dirty="0"/>
          </a:p>
        </p:txBody>
      </p:sp>
      <p:sp>
        <p:nvSpPr>
          <p:cNvPr id="9" name="Text 7"/>
          <p:cNvSpPr txBox="1"/>
          <p:nvPr/>
        </p:nvSpPr>
        <p:spPr>
          <a:xfrm>
            <a:off x="777240" y="5230368"/>
            <a:ext cx="31089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toplam event, tüm zaman aralığında</a:t>
            </a:r>
            <a:endParaRPr lang="en-US" sz="1200" dirty="0"/>
          </a:p>
        </p:txBody>
      </p:sp>
      <p:sp>
        <p:nvSpPr>
          <p:cNvPr id="10" name="Shape 8"/>
          <p:cNvSpPr/>
          <p:nvPr/>
        </p:nvSpPr>
        <p:spPr>
          <a:xfrm>
            <a:off x="4361688" y="1618488"/>
            <a:ext cx="7141464" cy="3004972"/>
          </a:xfrm>
          <a:prstGeom prst="roundRect">
            <a:avLst>
              <a:gd name="adj" fmla="val 1521"/>
            </a:avLst>
          </a:prstGeom>
          <a:solidFill>
            <a:srgbClr val="FFFFFF"/>
          </a:solidFill>
          <a:ln w="12700">
            <a:solidFill>
              <a:srgbClr val="D9DFE6"/>
            </a:solidFill>
            <a:prstDash val="solid"/>
          </a:ln>
          <a:effectLst>
            <a:outerShdw blurRad="101600" dist="38100" dir="5400000" algn="bl" rotWithShape="0">
              <a:srgbClr val="000000">
                <a:alpha val="18000"/>
              </a:srgbClr>
            </a:outerShdw>
          </a:effectLst>
        </p:spPr>
      </p:sp>
      <p:pic>
        <p:nvPicPr>
          <p:cNvPr id="11" name="Image 0" descr="/home/claude/screens/upload_verify.png"/>
          <p:cNvPicPr>
            <a:picLocks noChangeAspect="1"/>
          </p:cNvPicPr>
          <p:nvPr/>
        </p:nvPicPr>
        <p:blipFill>
          <a:blip r:embed="rId3"/>
          <a:stretch>
            <a:fillRect/>
          </a:stretch>
        </p:blipFill>
        <p:spPr>
          <a:xfrm>
            <a:off x="4434840" y="1691640"/>
            <a:ext cx="6995160" cy="2858668"/>
          </a:xfrm>
          <a:prstGeom prst="rect">
            <a:avLst/>
          </a:prstGeom>
        </p:spPr>
      </p:pic>
      <p:sp>
        <p:nvSpPr>
          <p:cNvPr id="12" name="Text 9"/>
          <p:cNvSpPr txBox="1"/>
          <p:nvPr/>
        </p:nvSpPr>
        <p:spPr>
          <a:xfrm>
            <a:off x="4434840" y="4660036"/>
            <a:ext cx="6995160" cy="274320"/>
          </a:xfrm>
          <a:prstGeom prst="rect">
            <a:avLst/>
          </a:prstGeom>
          <a:noFill/>
          <a:ln/>
        </p:spPr>
        <p:txBody>
          <a:bodyPr wrap="square" lIns="0" tIns="0" rIns="0" bIns="0" rtlCol="0" anchor="ctr"/>
          <a:lstStyle/>
          <a:p>
            <a:pPr marL="0" indent="0">
              <a:buNone/>
            </a:pPr>
            <a:r>
              <a:rPr lang="en-US" sz="1100" i="1" dirty="0">
                <a:solidFill>
                  <a:srgbClr val="5B6472"/>
                </a:solidFill>
                <a:latin typeface="Calibri" pitchFamily="34" charset="0"/>
                <a:ea typeface="Calibri" pitchFamily="34" charset="-122"/>
                <a:cs typeface="Calibri" pitchFamily="34" charset="-120"/>
              </a:rPr>
              <a:t>Şekil 1 — Splunk'ta doğrulama araması: 155 event, sourcetype=linux_secure</a:t>
            </a:r>
            <a:endParaRPr lang="en-US" sz="1100" dirty="0"/>
          </a:p>
        </p:txBody>
      </p:sp>
      <p:sp>
        <p:nvSpPr>
          <p:cNvPr id="14" name="Text 11"/>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SORU 1 &amp; 2</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Saldırı hangi IP'den geldi, kaç deneme yapıldı?</a:t>
            </a:r>
            <a:endParaRPr lang="en-US" sz="3200" dirty="0"/>
          </a:p>
        </p:txBody>
      </p:sp>
      <p:sp>
        <p:nvSpPr>
          <p:cNvPr id="4" name="Shape 2"/>
          <p:cNvSpPr/>
          <p:nvPr/>
        </p:nvSpPr>
        <p:spPr>
          <a:xfrm>
            <a:off x="548640" y="1691640"/>
            <a:ext cx="3566160" cy="1691640"/>
          </a:xfrm>
          <a:prstGeom prst="roundRect">
            <a:avLst>
              <a:gd name="adj" fmla="val 3243"/>
            </a:avLst>
          </a:prstGeom>
          <a:solidFill>
            <a:srgbClr val="26344A"/>
          </a:solidFill>
          <a:ln w="12700">
            <a:solidFill>
              <a:srgbClr val="26344A"/>
            </a:solidFill>
            <a:prstDash val="solid"/>
          </a:ln>
        </p:spPr>
      </p:sp>
      <p:sp>
        <p:nvSpPr>
          <p:cNvPr id="5" name="Text 3"/>
          <p:cNvSpPr txBox="1"/>
          <p:nvPr/>
        </p:nvSpPr>
        <p:spPr>
          <a:xfrm>
            <a:off x="731520" y="1819656"/>
            <a:ext cx="3200400" cy="1435608"/>
          </a:xfrm>
          <a:prstGeom prst="rect">
            <a:avLst/>
          </a:prstGeom>
          <a:noFill/>
          <a:ln/>
        </p:spPr>
        <p:txBody>
          <a:bodyPr wrap="square" lIns="0" tIns="0" rIns="0" bIns="0" rtlCol="0" anchor="t"/>
          <a:lstStyle/>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index=main source="Case1-auth.log"</a:t>
            </a:r>
            <a:endParaRPr lang="en-US" sz="1100" dirty="0"/>
          </a:p>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"Failed password"</a:t>
            </a:r>
            <a:endParaRPr lang="en-US" sz="1100" dirty="0"/>
          </a:p>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 rex "from (?&lt;src_ip&gt;..."</a:t>
            </a:r>
            <a:endParaRPr lang="en-US" sz="1100" dirty="0"/>
          </a:p>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 stats count by src_ip</a:t>
            </a:r>
            <a:endParaRPr lang="en-US" sz="1100" dirty="0"/>
          </a:p>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 sort -count</a:t>
            </a:r>
            <a:endParaRPr lang="en-US" sz="1100" dirty="0"/>
          </a:p>
        </p:txBody>
      </p:sp>
      <p:sp>
        <p:nvSpPr>
          <p:cNvPr id="6" name="Shape 4"/>
          <p:cNvSpPr/>
          <p:nvPr/>
        </p:nvSpPr>
        <p:spPr>
          <a:xfrm>
            <a:off x="548640" y="3566160"/>
            <a:ext cx="1691640" cy="1417320"/>
          </a:xfrm>
          <a:prstGeom prst="roundRect">
            <a:avLst>
              <a:gd name="adj" fmla="val 3871"/>
            </a:avLst>
          </a:prstGeom>
          <a:solidFill>
            <a:srgbClr val="26344A"/>
          </a:solidFill>
          <a:ln w="12700">
            <a:solidFill>
              <a:srgbClr val="26344A"/>
            </a:solidFill>
            <a:prstDash val="solid"/>
          </a:ln>
        </p:spPr>
      </p:sp>
      <p:sp>
        <p:nvSpPr>
          <p:cNvPr id="7" name="Text 5"/>
          <p:cNvSpPr txBox="1"/>
          <p:nvPr/>
        </p:nvSpPr>
        <p:spPr>
          <a:xfrm>
            <a:off x="777240" y="3675888"/>
            <a:ext cx="1234440" cy="868680"/>
          </a:xfrm>
          <a:prstGeom prst="rect">
            <a:avLst/>
          </a:prstGeom>
          <a:noFill/>
          <a:ln/>
        </p:spPr>
        <p:txBody>
          <a:bodyPr wrap="square" lIns="0" tIns="0" rIns="0" bIns="0" rtlCol="0" anchor="ctr"/>
          <a:lstStyle/>
          <a:p>
            <a:pPr marL="0" indent="0">
              <a:buNone/>
            </a:pPr>
            <a:r>
              <a:rPr lang="en-US" sz="3400" b="1" dirty="0">
                <a:solidFill>
                  <a:srgbClr val="E63946"/>
                </a:solidFill>
                <a:latin typeface="Cambria" pitchFamily="34" charset="0"/>
                <a:ea typeface="Cambria" pitchFamily="34" charset="-122"/>
                <a:cs typeface="Cambria" pitchFamily="34" charset="-120"/>
              </a:rPr>
              <a:t>1</a:t>
            </a:r>
            <a:endParaRPr lang="en-US" sz="3400" dirty="0"/>
          </a:p>
        </p:txBody>
      </p:sp>
      <p:sp>
        <p:nvSpPr>
          <p:cNvPr id="8" name="Text 6"/>
          <p:cNvSpPr txBox="1"/>
          <p:nvPr/>
        </p:nvSpPr>
        <p:spPr>
          <a:xfrm>
            <a:off x="777240" y="4544568"/>
            <a:ext cx="12344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kaynak IP</a:t>
            </a:r>
            <a:endParaRPr lang="en-US" sz="1200" dirty="0"/>
          </a:p>
        </p:txBody>
      </p:sp>
      <p:sp>
        <p:nvSpPr>
          <p:cNvPr id="9" name="Shape 7"/>
          <p:cNvSpPr/>
          <p:nvPr/>
        </p:nvSpPr>
        <p:spPr>
          <a:xfrm>
            <a:off x="2423160" y="3566160"/>
            <a:ext cx="1691640" cy="1417320"/>
          </a:xfrm>
          <a:prstGeom prst="roundRect">
            <a:avLst>
              <a:gd name="adj" fmla="val 3871"/>
            </a:avLst>
          </a:prstGeom>
          <a:solidFill>
            <a:srgbClr val="26344A"/>
          </a:solidFill>
          <a:ln w="12700">
            <a:solidFill>
              <a:srgbClr val="26344A"/>
            </a:solidFill>
            <a:prstDash val="solid"/>
          </a:ln>
        </p:spPr>
      </p:sp>
      <p:sp>
        <p:nvSpPr>
          <p:cNvPr id="10" name="Text 8"/>
          <p:cNvSpPr txBox="1"/>
          <p:nvPr/>
        </p:nvSpPr>
        <p:spPr>
          <a:xfrm>
            <a:off x="2651760" y="3675888"/>
            <a:ext cx="1234440" cy="868680"/>
          </a:xfrm>
          <a:prstGeom prst="rect">
            <a:avLst/>
          </a:prstGeom>
          <a:noFill/>
          <a:ln/>
        </p:spPr>
        <p:txBody>
          <a:bodyPr wrap="square" lIns="0" tIns="0" rIns="0" bIns="0" rtlCol="0" anchor="ctr"/>
          <a:lstStyle/>
          <a:p>
            <a:pPr marL="0" indent="0">
              <a:buNone/>
            </a:pPr>
            <a:r>
              <a:rPr lang="en-US" sz="3400" b="1" dirty="0">
                <a:solidFill>
                  <a:srgbClr val="E63946"/>
                </a:solidFill>
                <a:latin typeface="Cambria" pitchFamily="34" charset="0"/>
                <a:ea typeface="Cambria" pitchFamily="34" charset="-122"/>
                <a:cs typeface="Cambria" pitchFamily="34" charset="-120"/>
              </a:rPr>
              <a:t>91</a:t>
            </a:r>
            <a:endParaRPr lang="en-US" sz="3400" dirty="0"/>
          </a:p>
        </p:txBody>
      </p:sp>
      <p:sp>
        <p:nvSpPr>
          <p:cNvPr id="11" name="Text 9"/>
          <p:cNvSpPr txBox="1"/>
          <p:nvPr/>
        </p:nvSpPr>
        <p:spPr>
          <a:xfrm>
            <a:off x="2651760" y="4544568"/>
            <a:ext cx="12344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başarısız deneme</a:t>
            </a:r>
            <a:endParaRPr lang="en-US" sz="1200" dirty="0"/>
          </a:p>
        </p:txBody>
      </p:sp>
      <p:sp>
        <p:nvSpPr>
          <p:cNvPr id="12" name="Text 10"/>
          <p:cNvSpPr txBox="1"/>
          <p:nvPr/>
        </p:nvSpPr>
        <p:spPr>
          <a:xfrm>
            <a:off x="548640" y="5166360"/>
            <a:ext cx="3566160" cy="685800"/>
          </a:xfrm>
          <a:prstGeom prst="rect">
            <a:avLst/>
          </a:prstGeom>
          <a:noFill/>
          <a:ln/>
        </p:spPr>
        <p:txBody>
          <a:bodyPr wrap="square" lIns="0" tIns="0" rIns="0" bIns="0" rtlCol="0" anchor="ctr"/>
          <a:lstStyle/>
          <a:p>
            <a:pPr marL="0" indent="0">
              <a:lnSpc>
                <a:spcPct val="130000"/>
              </a:lnSpc>
              <a:buNone/>
            </a:pPr>
            <a:r>
              <a:rPr lang="en-US" sz="1250" b="1" dirty="0">
                <a:solidFill>
                  <a:srgbClr val="B32833"/>
                </a:solidFill>
                <a:latin typeface="Calibri" pitchFamily="34" charset="0"/>
                <a:ea typeface="Calibri" pitchFamily="34" charset="-122"/>
                <a:cs typeface="Calibri" pitchFamily="34" charset="-120"/>
              </a:rPr>
              <a:t>203.0.113.66</a:t>
            </a:r>
            <a:r>
              <a:rPr lang="en-US" sz="1250" dirty="0">
                <a:solidFill>
                  <a:srgbClr val="5B6472"/>
                </a:solidFill>
                <a:latin typeface="Calibri" pitchFamily="34" charset="0"/>
                <a:ea typeface="Calibri" pitchFamily="34" charset="-122"/>
                <a:cs typeface="Calibri" pitchFamily="34" charset="-120"/>
              </a:rPr>
              <a:t> — tüm başarısız denemelerin tamamı bu tek dış IP adresinden geldi.</a:t>
            </a:r>
            <a:endParaRPr lang="en-US" sz="1250" dirty="0"/>
          </a:p>
        </p:txBody>
      </p:sp>
      <p:sp>
        <p:nvSpPr>
          <p:cNvPr id="13" name="Shape 11"/>
          <p:cNvSpPr/>
          <p:nvPr/>
        </p:nvSpPr>
        <p:spPr>
          <a:xfrm>
            <a:off x="4361688" y="1618488"/>
            <a:ext cx="7141464" cy="3004972"/>
          </a:xfrm>
          <a:prstGeom prst="roundRect">
            <a:avLst>
              <a:gd name="adj" fmla="val 1521"/>
            </a:avLst>
          </a:prstGeom>
          <a:solidFill>
            <a:srgbClr val="FFFFFF"/>
          </a:solidFill>
          <a:ln w="12700">
            <a:solidFill>
              <a:srgbClr val="D9DFE6"/>
            </a:solidFill>
            <a:prstDash val="solid"/>
          </a:ln>
          <a:effectLst>
            <a:outerShdw blurRad="101600" dist="38100" dir="5400000" algn="bl" rotWithShape="0">
              <a:srgbClr val="000000">
                <a:alpha val="18000"/>
              </a:srgbClr>
            </a:outerShdw>
          </a:effectLst>
        </p:spPr>
      </p:sp>
      <p:pic>
        <p:nvPicPr>
          <p:cNvPr id="14" name="Image 0" descr="/home/claude/screens/srcip_stats.png"/>
          <p:cNvPicPr>
            <a:picLocks noChangeAspect="1"/>
          </p:cNvPicPr>
          <p:nvPr/>
        </p:nvPicPr>
        <p:blipFill>
          <a:blip r:embed="rId3"/>
          <a:stretch>
            <a:fillRect/>
          </a:stretch>
        </p:blipFill>
        <p:spPr>
          <a:xfrm>
            <a:off x="4434840" y="1691640"/>
            <a:ext cx="6995160" cy="2858668"/>
          </a:xfrm>
          <a:prstGeom prst="rect">
            <a:avLst/>
          </a:prstGeom>
        </p:spPr>
      </p:pic>
      <p:sp>
        <p:nvSpPr>
          <p:cNvPr id="15" name="Text 12"/>
          <p:cNvSpPr txBox="1"/>
          <p:nvPr/>
        </p:nvSpPr>
        <p:spPr>
          <a:xfrm>
            <a:off x="4434840" y="4660036"/>
            <a:ext cx="6995160" cy="274320"/>
          </a:xfrm>
          <a:prstGeom prst="rect">
            <a:avLst/>
          </a:prstGeom>
          <a:noFill/>
          <a:ln/>
        </p:spPr>
        <p:txBody>
          <a:bodyPr wrap="square" lIns="0" tIns="0" rIns="0" bIns="0" rtlCol="0" anchor="ctr"/>
          <a:lstStyle/>
          <a:p>
            <a:pPr marL="0" indent="0">
              <a:buNone/>
            </a:pPr>
            <a:r>
              <a:rPr lang="en-US" sz="1100" i="1" dirty="0">
                <a:solidFill>
                  <a:srgbClr val="5B6472"/>
                </a:solidFill>
                <a:latin typeface="Calibri" pitchFamily="34" charset="0"/>
                <a:ea typeface="Calibri" pitchFamily="34" charset="-122"/>
                <a:cs typeface="Calibri" pitchFamily="34" charset="-120"/>
              </a:rPr>
              <a:t>Şekil 2 — stats sorgusu: src_ip=203.0.113.66, count=91</a:t>
            </a:r>
            <a:endParaRPr lang="en-US" sz="1100" dirty="0"/>
          </a:p>
        </p:txBody>
      </p:sp>
      <p:sp>
        <p:nvSpPr>
          <p:cNvPr id="17" name="Text 14"/>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SORU 3</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Hangi kullanıcı adları denendi?</a:t>
            </a:r>
            <a:endParaRPr lang="en-US" sz="3200" dirty="0"/>
          </a:p>
        </p:txBody>
      </p:sp>
      <p:sp>
        <p:nvSpPr>
          <p:cNvPr id="4" name="Shape 2"/>
          <p:cNvSpPr/>
          <p:nvPr/>
        </p:nvSpPr>
        <p:spPr>
          <a:xfrm>
            <a:off x="475488" y="1618488"/>
            <a:ext cx="7141464" cy="3004972"/>
          </a:xfrm>
          <a:prstGeom prst="roundRect">
            <a:avLst>
              <a:gd name="adj" fmla="val 1521"/>
            </a:avLst>
          </a:prstGeom>
          <a:solidFill>
            <a:srgbClr val="FFFFFF"/>
          </a:solidFill>
          <a:ln w="12700">
            <a:solidFill>
              <a:srgbClr val="D9DFE6"/>
            </a:solidFill>
            <a:prstDash val="solid"/>
          </a:ln>
          <a:effectLst>
            <a:outerShdw blurRad="101600" dist="38100" dir="5400000" algn="bl" rotWithShape="0">
              <a:srgbClr val="000000">
                <a:alpha val="18000"/>
              </a:srgbClr>
            </a:outerShdw>
          </a:effectLst>
        </p:spPr>
      </p:sp>
      <p:pic>
        <p:nvPicPr>
          <p:cNvPr id="5" name="Image 0" descr="/home/claude/screens/user_table.png"/>
          <p:cNvPicPr>
            <a:picLocks noChangeAspect="1"/>
          </p:cNvPicPr>
          <p:nvPr/>
        </p:nvPicPr>
        <p:blipFill>
          <a:blip r:embed="rId3"/>
          <a:stretch>
            <a:fillRect/>
          </a:stretch>
        </p:blipFill>
        <p:spPr>
          <a:xfrm>
            <a:off x="548640" y="1691640"/>
            <a:ext cx="6995160" cy="2858668"/>
          </a:xfrm>
          <a:prstGeom prst="rect">
            <a:avLst/>
          </a:prstGeom>
        </p:spPr>
      </p:pic>
      <p:sp>
        <p:nvSpPr>
          <p:cNvPr id="6" name="Text 3"/>
          <p:cNvSpPr txBox="1"/>
          <p:nvPr/>
        </p:nvSpPr>
        <p:spPr>
          <a:xfrm>
            <a:off x="548640" y="4660036"/>
            <a:ext cx="6995160" cy="274320"/>
          </a:xfrm>
          <a:prstGeom prst="rect">
            <a:avLst/>
          </a:prstGeom>
          <a:noFill/>
          <a:ln/>
        </p:spPr>
        <p:txBody>
          <a:bodyPr wrap="square" lIns="0" tIns="0" rIns="0" bIns="0" rtlCol="0" anchor="ctr"/>
          <a:lstStyle/>
          <a:p>
            <a:pPr marL="0" indent="0">
              <a:buNone/>
            </a:pPr>
            <a:r>
              <a:rPr lang="en-US" sz="1100" i="1" dirty="0">
                <a:solidFill>
                  <a:srgbClr val="5B6472"/>
                </a:solidFill>
                <a:latin typeface="Calibri" pitchFamily="34" charset="0"/>
                <a:ea typeface="Calibri" pitchFamily="34" charset="-122"/>
                <a:cs typeface="Calibri" pitchFamily="34" charset="-120"/>
              </a:rPr>
              <a:t>Şekil 3 — kullanıcı adı / user_type / count tablosu</a:t>
            </a:r>
            <a:endParaRPr lang="en-US" sz="1100" dirty="0"/>
          </a:p>
        </p:txBody>
      </p:sp>
      <p:sp>
        <p:nvSpPr>
          <p:cNvPr id="7" name="Text 4"/>
          <p:cNvSpPr txBox="1"/>
          <p:nvPr/>
        </p:nvSpPr>
        <p:spPr>
          <a:xfrm>
            <a:off x="7863840" y="1737360"/>
            <a:ext cx="3749040" cy="548640"/>
          </a:xfrm>
          <a:prstGeom prst="rect">
            <a:avLst/>
          </a:prstGeom>
          <a:noFill/>
          <a:ln/>
        </p:spPr>
        <p:txBody>
          <a:bodyPr wrap="square" lIns="0" tIns="0" rIns="0" bIns="0" rtlCol="0" anchor="ctr"/>
          <a:lstStyle/>
          <a:p>
            <a:pPr marL="0" indent="0">
              <a:lnSpc>
                <a:spcPct val="110000"/>
              </a:lnSpc>
              <a:buNone/>
            </a:pPr>
            <a:r>
              <a:rPr lang="en-US" sz="1600" b="1" dirty="0">
                <a:solidFill>
                  <a:srgbClr val="1B2430"/>
                </a:solidFill>
                <a:latin typeface="Cambria" pitchFamily="34" charset="0"/>
                <a:ea typeface="Cambria" pitchFamily="34" charset="-122"/>
                <a:cs typeface="Cambria" pitchFamily="34" charset="-120"/>
              </a:rPr>
              <a:t>Sözlük tabanlı, sistematik deneme</a:t>
            </a:r>
            <a:endParaRPr lang="en-US" sz="1600" dirty="0"/>
          </a:p>
        </p:txBody>
      </p:sp>
      <p:sp>
        <p:nvSpPr>
          <p:cNvPr id="8" name="Shape 5"/>
          <p:cNvSpPr/>
          <p:nvPr/>
        </p:nvSpPr>
        <p:spPr>
          <a:xfrm>
            <a:off x="7863840" y="2468880"/>
            <a:ext cx="457200" cy="457200"/>
          </a:xfrm>
          <a:prstGeom prst="ellipse">
            <a:avLst/>
          </a:prstGeom>
          <a:solidFill>
            <a:srgbClr val="E63946"/>
          </a:solidFill>
          <a:ln w="12700">
            <a:solidFill>
              <a:srgbClr val="E63946"/>
            </a:solidFill>
            <a:prstDash val="solid"/>
          </a:ln>
        </p:spPr>
      </p:sp>
      <p:sp>
        <p:nvSpPr>
          <p:cNvPr id="9" name="Text 6"/>
          <p:cNvSpPr txBox="1"/>
          <p:nvPr/>
        </p:nvSpPr>
        <p:spPr>
          <a:xfrm>
            <a:off x="7863840" y="24688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7"/>
          <p:cNvSpPr txBox="1"/>
          <p:nvPr/>
        </p:nvSpPr>
        <p:spPr>
          <a:xfrm>
            <a:off x="8485632" y="2441448"/>
            <a:ext cx="3127248" cy="292608"/>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4 geçersiz hesap</a:t>
            </a:r>
            <a:endParaRPr lang="en-US" sz="1400" dirty="0"/>
          </a:p>
        </p:txBody>
      </p:sp>
      <p:sp>
        <p:nvSpPr>
          <p:cNvPr id="11" name="Text 8"/>
          <p:cNvSpPr txBox="1"/>
          <p:nvPr/>
        </p:nvSpPr>
        <p:spPr>
          <a:xfrm>
            <a:off x="8485632" y="2724912"/>
            <a:ext cx="3127248" cy="502920"/>
          </a:xfrm>
          <a:prstGeom prst="rect">
            <a:avLst/>
          </a:prstGeom>
          <a:noFill/>
          <a:ln/>
        </p:spPr>
        <p:txBody>
          <a:bodyPr wrap="square" lIns="0" tIns="0" rIns="0" bIns="0" rtlCol="0" anchor="t"/>
          <a:lstStyle/>
          <a:p>
            <a:pPr marL="0" indent="0">
              <a:lnSpc>
                <a:spcPct val="110000"/>
              </a:lnSpc>
              <a:buNone/>
            </a:pPr>
            <a:r>
              <a:rPr lang="en-US" sz="1150" dirty="0">
                <a:solidFill>
                  <a:srgbClr val="5B6472"/>
                </a:solidFill>
                <a:latin typeface="Calibri" pitchFamily="34" charset="0"/>
                <a:ea typeface="Calibri" pitchFamily="34" charset="-122"/>
                <a:cs typeface="Calibri" pitchFamily="34" charset="-120"/>
              </a:rPr>
              <a:t>admin, oracle, postgres, test — web01'de mevcut olmayan, yaygın hesap adları (12'şer deneme)</a:t>
            </a:r>
            <a:endParaRPr lang="en-US" sz="1150" dirty="0"/>
          </a:p>
        </p:txBody>
      </p:sp>
      <p:sp>
        <p:nvSpPr>
          <p:cNvPr id="12" name="Shape 9"/>
          <p:cNvSpPr/>
          <p:nvPr/>
        </p:nvSpPr>
        <p:spPr>
          <a:xfrm>
            <a:off x="7863840" y="3429000"/>
            <a:ext cx="457200" cy="457200"/>
          </a:xfrm>
          <a:prstGeom prst="ellipse">
            <a:avLst/>
          </a:prstGeom>
          <a:solidFill>
            <a:srgbClr val="26344A"/>
          </a:solidFill>
          <a:ln w="12700">
            <a:solidFill>
              <a:srgbClr val="26344A"/>
            </a:solidFill>
            <a:prstDash val="solid"/>
          </a:ln>
        </p:spPr>
      </p:sp>
      <p:sp>
        <p:nvSpPr>
          <p:cNvPr id="13" name="Text 10"/>
          <p:cNvSpPr txBox="1"/>
          <p:nvPr/>
        </p:nvSpPr>
        <p:spPr>
          <a:xfrm>
            <a:off x="7863840" y="3429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1"/>
          <p:cNvSpPr txBox="1"/>
          <p:nvPr/>
        </p:nvSpPr>
        <p:spPr>
          <a:xfrm>
            <a:off x="8485632" y="3401568"/>
            <a:ext cx="3127248" cy="292608"/>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3 gerçek hesap</a:t>
            </a:r>
            <a:endParaRPr lang="en-US" sz="1400" dirty="0"/>
          </a:p>
        </p:txBody>
      </p:sp>
      <p:sp>
        <p:nvSpPr>
          <p:cNvPr id="15" name="Text 12"/>
          <p:cNvSpPr txBox="1"/>
          <p:nvPr/>
        </p:nvSpPr>
        <p:spPr>
          <a:xfrm>
            <a:off x="8485632" y="3685032"/>
            <a:ext cx="3127248" cy="502920"/>
          </a:xfrm>
          <a:prstGeom prst="rect">
            <a:avLst/>
          </a:prstGeom>
          <a:noFill/>
          <a:ln/>
        </p:spPr>
        <p:txBody>
          <a:bodyPr wrap="square" lIns="0" tIns="0" rIns="0" bIns="0" rtlCol="0" anchor="t"/>
          <a:lstStyle/>
          <a:p>
            <a:pPr marL="0" indent="0">
              <a:lnSpc>
                <a:spcPct val="110000"/>
              </a:lnSpc>
              <a:buNone/>
            </a:pPr>
            <a:r>
              <a:rPr lang="en-US" sz="1150" dirty="0">
                <a:solidFill>
                  <a:srgbClr val="5B6472"/>
                </a:solidFill>
                <a:latin typeface="Calibri" pitchFamily="34" charset="0"/>
                <a:ea typeface="Calibri" pitchFamily="34" charset="-122"/>
                <a:cs typeface="Calibri" pitchFamily="34" charset="-120"/>
              </a:rPr>
              <a:t>root (15), ubuntu (10), deploy (19) — sistemde var olan hesaplara karşı da deneme yapıldı</a:t>
            </a:r>
            <a:endParaRPr lang="en-US" sz="1150" dirty="0"/>
          </a:p>
        </p:txBody>
      </p:sp>
      <p:sp>
        <p:nvSpPr>
          <p:cNvPr id="16" name="Shape 13"/>
          <p:cNvSpPr/>
          <p:nvPr/>
        </p:nvSpPr>
        <p:spPr>
          <a:xfrm>
            <a:off x="7863840" y="4389120"/>
            <a:ext cx="457200" cy="457200"/>
          </a:xfrm>
          <a:prstGeom prst="ellipse">
            <a:avLst/>
          </a:prstGeom>
          <a:solidFill>
            <a:srgbClr val="B32833"/>
          </a:solidFill>
          <a:ln w="12700">
            <a:solidFill>
              <a:srgbClr val="B32833"/>
            </a:solidFill>
            <a:prstDash val="solid"/>
          </a:ln>
        </p:spPr>
      </p:sp>
      <p:sp>
        <p:nvSpPr>
          <p:cNvPr id="17" name="Text 14"/>
          <p:cNvSpPr txBox="1"/>
          <p:nvPr/>
        </p:nvSpPr>
        <p:spPr>
          <a:xfrm>
            <a:off x="7863840" y="43891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5"/>
          <p:cNvSpPr txBox="1"/>
          <p:nvPr/>
        </p:nvSpPr>
        <p:spPr>
          <a:xfrm>
            <a:off x="8485632" y="4361688"/>
            <a:ext cx="3127248" cy="292608"/>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En çok denenen: deploy</a:t>
            </a:r>
            <a:endParaRPr lang="en-US" sz="1400" dirty="0"/>
          </a:p>
        </p:txBody>
      </p:sp>
      <p:sp>
        <p:nvSpPr>
          <p:cNvPr id="19" name="Text 16"/>
          <p:cNvSpPr txBox="1"/>
          <p:nvPr/>
        </p:nvSpPr>
        <p:spPr>
          <a:xfrm>
            <a:off x="8485632" y="4645152"/>
            <a:ext cx="3127248" cy="502920"/>
          </a:xfrm>
          <a:prstGeom prst="rect">
            <a:avLst/>
          </a:prstGeom>
          <a:noFill/>
          <a:ln/>
        </p:spPr>
        <p:txBody>
          <a:bodyPr wrap="square" lIns="0" tIns="0" rIns="0" bIns="0" rtlCol="0" anchor="t"/>
          <a:lstStyle/>
          <a:p>
            <a:pPr marL="0" indent="0">
              <a:lnSpc>
                <a:spcPct val="110000"/>
              </a:lnSpc>
              <a:buNone/>
            </a:pPr>
            <a:r>
              <a:rPr lang="en-US" sz="1150" dirty="0">
                <a:solidFill>
                  <a:srgbClr val="5B6472"/>
                </a:solidFill>
                <a:latin typeface="Calibri" pitchFamily="34" charset="0"/>
                <a:ea typeface="Calibri" pitchFamily="34" charset="-122"/>
                <a:cs typeface="Calibri" pitchFamily="34" charset="-120"/>
              </a:rPr>
              <a:t>19 deneme ile en yoğun hedef — ve az sonra göreceğimiz gibi, ele geçirilen hesap da bu.</a:t>
            </a:r>
            <a:endParaRPr lang="en-US" sz="1150" dirty="0"/>
          </a:p>
        </p:txBody>
      </p:sp>
      <p:sp>
        <p:nvSpPr>
          <p:cNvPr id="21" name="Text 18"/>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SORU 4</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Başarısız denemelerden sonra giriş oldu mu?</a:t>
            </a:r>
            <a:endParaRPr lang="en-US" sz="3200" dirty="0"/>
          </a:p>
        </p:txBody>
      </p:sp>
      <p:sp>
        <p:nvSpPr>
          <p:cNvPr id="4" name="Shape 2"/>
          <p:cNvSpPr/>
          <p:nvPr/>
        </p:nvSpPr>
        <p:spPr>
          <a:xfrm>
            <a:off x="548640" y="1691640"/>
            <a:ext cx="3566160" cy="1371600"/>
          </a:xfrm>
          <a:prstGeom prst="roundRect">
            <a:avLst>
              <a:gd name="adj" fmla="val 4000"/>
            </a:avLst>
          </a:prstGeom>
          <a:solidFill>
            <a:srgbClr val="26344A"/>
          </a:solidFill>
          <a:ln w="12700">
            <a:solidFill>
              <a:srgbClr val="26344A"/>
            </a:solidFill>
            <a:prstDash val="solid"/>
          </a:ln>
        </p:spPr>
      </p:sp>
      <p:sp>
        <p:nvSpPr>
          <p:cNvPr id="5" name="Text 3"/>
          <p:cNvSpPr txBox="1"/>
          <p:nvPr/>
        </p:nvSpPr>
        <p:spPr>
          <a:xfrm>
            <a:off x="731520" y="1819656"/>
            <a:ext cx="3200400" cy="1115568"/>
          </a:xfrm>
          <a:prstGeom prst="rect">
            <a:avLst/>
          </a:prstGeom>
          <a:noFill/>
          <a:ln/>
        </p:spPr>
        <p:txBody>
          <a:bodyPr wrap="square" lIns="0" tIns="0" rIns="0" bIns="0" rtlCol="0" anchor="t"/>
          <a:lstStyle/>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index=main source="Case1-auth.log"</a:t>
            </a:r>
            <a:endParaRPr lang="en-US" sz="1100" dirty="0"/>
          </a:p>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"203.0.113.66" "Accepted password"</a:t>
            </a:r>
            <a:endParaRPr lang="en-US" sz="1100" dirty="0"/>
          </a:p>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 rex "Accepted password for..."</a:t>
            </a:r>
            <a:endParaRPr lang="en-US" sz="1100" dirty="0"/>
          </a:p>
          <a:p>
            <a:pPr marL="0" indent="0">
              <a:lnSpc>
                <a:spcPct val="115000"/>
              </a:lnSpc>
              <a:buNone/>
            </a:pPr>
            <a:r>
              <a:rPr lang="en-US" sz="1100" dirty="0">
                <a:solidFill>
                  <a:srgbClr val="D7E2F2"/>
                </a:solidFill>
                <a:latin typeface="Courier New" pitchFamily="34" charset="0"/>
                <a:ea typeface="Courier New" pitchFamily="34" charset="-122"/>
                <a:cs typeface="Courier New" pitchFamily="34" charset="-120"/>
              </a:rPr>
              <a:t>| table _time, user, src_ip</a:t>
            </a:r>
            <a:endParaRPr lang="en-US" sz="1100" dirty="0"/>
          </a:p>
        </p:txBody>
      </p:sp>
      <p:sp>
        <p:nvSpPr>
          <p:cNvPr id="6" name="Shape 4"/>
          <p:cNvSpPr/>
          <p:nvPr/>
        </p:nvSpPr>
        <p:spPr>
          <a:xfrm>
            <a:off x="548640" y="3291840"/>
            <a:ext cx="3566160" cy="1554480"/>
          </a:xfrm>
          <a:prstGeom prst="roundRect">
            <a:avLst>
              <a:gd name="adj" fmla="val 3529"/>
            </a:avLst>
          </a:prstGeom>
          <a:solidFill>
            <a:srgbClr val="26344A"/>
          </a:solidFill>
          <a:ln w="12700">
            <a:solidFill>
              <a:srgbClr val="26344A"/>
            </a:solidFill>
            <a:prstDash val="solid"/>
          </a:ln>
        </p:spPr>
      </p:sp>
      <p:sp>
        <p:nvSpPr>
          <p:cNvPr id="7" name="Text 5"/>
          <p:cNvSpPr txBox="1"/>
          <p:nvPr/>
        </p:nvSpPr>
        <p:spPr>
          <a:xfrm>
            <a:off x="777240" y="3401568"/>
            <a:ext cx="3108960" cy="1005840"/>
          </a:xfrm>
          <a:prstGeom prst="rect">
            <a:avLst/>
          </a:prstGeom>
          <a:noFill/>
          <a:ln/>
        </p:spPr>
        <p:txBody>
          <a:bodyPr wrap="square" lIns="0" tIns="0" rIns="0" bIns="0" rtlCol="0" anchor="ctr"/>
          <a:lstStyle/>
          <a:p>
            <a:pPr marL="0" indent="0">
              <a:buNone/>
            </a:pPr>
            <a:r>
              <a:rPr lang="en-US" sz="3400" b="1" dirty="0">
                <a:solidFill>
                  <a:srgbClr val="E63946"/>
                </a:solidFill>
                <a:latin typeface="Cambria" pitchFamily="34" charset="0"/>
                <a:ea typeface="Cambria" pitchFamily="34" charset="-122"/>
                <a:cs typeface="Cambria" pitchFamily="34" charset="-120"/>
              </a:rPr>
              <a:t>14:25:53</a:t>
            </a:r>
            <a:endParaRPr lang="en-US" sz="3400" dirty="0"/>
          </a:p>
        </p:txBody>
      </p:sp>
      <p:sp>
        <p:nvSpPr>
          <p:cNvPr id="8" name="Text 6"/>
          <p:cNvSpPr txBox="1"/>
          <p:nvPr/>
        </p:nvSpPr>
        <p:spPr>
          <a:xfrm>
            <a:off x="777240" y="4407408"/>
            <a:ext cx="310896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24 Ağustos 2026 — başarılı giriş anı</a:t>
            </a:r>
            <a:endParaRPr lang="en-US" sz="1200" dirty="0"/>
          </a:p>
        </p:txBody>
      </p:sp>
      <p:sp>
        <p:nvSpPr>
          <p:cNvPr id="9" name="Text 7"/>
          <p:cNvSpPr txBox="1"/>
          <p:nvPr/>
        </p:nvSpPr>
        <p:spPr>
          <a:xfrm>
            <a:off x="548640" y="5029200"/>
            <a:ext cx="3566160" cy="731520"/>
          </a:xfrm>
          <a:prstGeom prst="rect">
            <a:avLst/>
          </a:prstGeom>
          <a:noFill/>
          <a:ln/>
        </p:spPr>
        <p:txBody>
          <a:bodyPr wrap="square" lIns="0" tIns="0" rIns="0" bIns="0" rtlCol="0" anchor="ctr"/>
          <a:lstStyle/>
          <a:p>
            <a:pPr marL="0" indent="0">
              <a:lnSpc>
                <a:spcPct val="130000"/>
              </a:lnSpc>
              <a:buNone/>
            </a:pPr>
            <a:r>
              <a:rPr lang="en-US" sz="1250" b="1" dirty="0">
                <a:solidFill>
                  <a:srgbClr val="B32833"/>
                </a:solidFill>
                <a:latin typeface="Calibri" pitchFamily="34" charset="0"/>
                <a:ea typeface="Calibri" pitchFamily="34" charset="-122"/>
                <a:cs typeface="Calibri" pitchFamily="34" charset="-120"/>
              </a:rPr>
              <a:t>deploy</a:t>
            </a:r>
            <a:r>
              <a:rPr lang="en-US" sz="1250" dirty="0">
                <a:solidFill>
                  <a:srgbClr val="5B6472"/>
                </a:solidFill>
                <a:latin typeface="Calibri" pitchFamily="34" charset="0"/>
                <a:ea typeface="Calibri" pitchFamily="34" charset="-122"/>
                <a:cs typeface="Calibri" pitchFamily="34" charset="-120"/>
              </a:rPr>
              <a:t> hesabıyla, 91. denemenin hemen ardından başarılı bir SSH oturumu açıldı.</a:t>
            </a:r>
            <a:endParaRPr lang="en-US" sz="1250" dirty="0"/>
          </a:p>
        </p:txBody>
      </p:sp>
      <p:sp>
        <p:nvSpPr>
          <p:cNvPr id="10" name="Shape 8"/>
          <p:cNvSpPr/>
          <p:nvPr/>
        </p:nvSpPr>
        <p:spPr>
          <a:xfrm>
            <a:off x="4361688" y="1618488"/>
            <a:ext cx="7141464" cy="3004972"/>
          </a:xfrm>
          <a:prstGeom prst="roundRect">
            <a:avLst>
              <a:gd name="adj" fmla="val 1521"/>
            </a:avLst>
          </a:prstGeom>
          <a:solidFill>
            <a:srgbClr val="FFFFFF"/>
          </a:solidFill>
          <a:ln w="12700">
            <a:solidFill>
              <a:srgbClr val="D9DFE6"/>
            </a:solidFill>
            <a:prstDash val="solid"/>
          </a:ln>
          <a:effectLst>
            <a:outerShdw blurRad="101600" dist="38100" dir="5400000" algn="bl" rotWithShape="0">
              <a:srgbClr val="000000">
                <a:alpha val="18000"/>
              </a:srgbClr>
            </a:outerShdw>
          </a:effectLst>
        </p:spPr>
      </p:sp>
      <p:pic>
        <p:nvPicPr>
          <p:cNvPr id="11" name="Image 0" descr="/home/claude/screens/accepted_login.png"/>
          <p:cNvPicPr>
            <a:picLocks noChangeAspect="1"/>
          </p:cNvPicPr>
          <p:nvPr/>
        </p:nvPicPr>
        <p:blipFill>
          <a:blip r:embed="rId3"/>
          <a:stretch>
            <a:fillRect/>
          </a:stretch>
        </p:blipFill>
        <p:spPr>
          <a:xfrm>
            <a:off x="4434840" y="1691640"/>
            <a:ext cx="6995160" cy="2858668"/>
          </a:xfrm>
          <a:prstGeom prst="rect">
            <a:avLst/>
          </a:prstGeom>
        </p:spPr>
      </p:pic>
      <p:sp>
        <p:nvSpPr>
          <p:cNvPr id="12" name="Text 9"/>
          <p:cNvSpPr txBox="1"/>
          <p:nvPr/>
        </p:nvSpPr>
        <p:spPr>
          <a:xfrm>
            <a:off x="4434840" y="4660036"/>
            <a:ext cx="6995160" cy="274320"/>
          </a:xfrm>
          <a:prstGeom prst="rect">
            <a:avLst/>
          </a:prstGeom>
          <a:noFill/>
          <a:ln/>
        </p:spPr>
        <p:txBody>
          <a:bodyPr wrap="square" lIns="0" tIns="0" rIns="0" bIns="0" rtlCol="0" anchor="ctr"/>
          <a:lstStyle/>
          <a:p>
            <a:pPr marL="0" indent="0">
              <a:buNone/>
            </a:pPr>
            <a:r>
              <a:rPr lang="en-US" sz="1100" i="1" dirty="0">
                <a:solidFill>
                  <a:srgbClr val="5B6472"/>
                </a:solidFill>
                <a:latin typeface="Calibri" pitchFamily="34" charset="0"/>
                <a:ea typeface="Calibri" pitchFamily="34" charset="-122"/>
                <a:cs typeface="Calibri" pitchFamily="34" charset="-120"/>
              </a:rPr>
              <a:t>Şekil 4 — Accepted password: user=deploy, src_ip=203.0.113.66</a:t>
            </a:r>
            <a:endParaRPr lang="en-US" sz="1100" dirty="0"/>
          </a:p>
        </p:txBody>
      </p:sp>
      <p:sp>
        <p:nvSpPr>
          <p:cNvPr id="14" name="Text 11"/>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51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SORU 5 — DÖNÜM NOKTASI</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deploy normalde nereden giriş yapıyordu?</a:t>
            </a:r>
            <a:endParaRPr lang="en-US" sz="3200" dirty="0"/>
          </a:p>
        </p:txBody>
      </p:sp>
      <p:sp>
        <p:nvSpPr>
          <p:cNvPr id="4" name="Shape 2"/>
          <p:cNvSpPr/>
          <p:nvPr/>
        </p:nvSpPr>
        <p:spPr>
          <a:xfrm>
            <a:off x="548640" y="1325880"/>
            <a:ext cx="3200400" cy="1828800"/>
          </a:xfrm>
          <a:prstGeom prst="roundRect">
            <a:avLst>
              <a:gd name="adj" fmla="val 3500"/>
            </a:avLst>
          </a:prstGeom>
          <a:solidFill>
            <a:srgbClr val="1B2433"/>
          </a:solidFill>
          <a:ln w="12700">
            <a:solidFill>
              <a:srgbClr val="2B3547"/>
            </a:solidFill>
            <a:prstDash val="solid"/>
          </a:ln>
        </p:spPr>
      </p:sp>
      <p:sp>
        <p:nvSpPr>
          <p:cNvPr id="5" name="Text 3"/>
          <p:cNvSpPr txBox="1"/>
          <p:nvPr/>
        </p:nvSpPr>
        <p:spPr>
          <a:xfrm>
            <a:off x="777240" y="1920240"/>
            <a:ext cx="2743200" cy="274320"/>
          </a:xfrm>
          <a:prstGeom prst="rect">
            <a:avLst/>
          </a:prstGeom>
          <a:noFill/>
          <a:ln/>
        </p:spPr>
        <p:txBody>
          <a:bodyPr wrap="square" lIns="0" tIns="0" rIns="0" bIns="0" rtlCol="0" anchor="ctr"/>
          <a:lstStyle/>
          <a:p>
            <a:pPr marL="0" indent="0">
              <a:buNone/>
            </a:pPr>
            <a:r>
              <a:rPr lang="en-US" sz="1050" b="1" kern="0" spc="150" dirty="0">
                <a:solidFill>
                  <a:srgbClr val="8FD3A8"/>
                </a:solidFill>
                <a:latin typeface="Calibri" pitchFamily="34" charset="0"/>
                <a:ea typeface="Calibri" pitchFamily="34" charset="-122"/>
                <a:cs typeface="Calibri" pitchFamily="34" charset="-120"/>
              </a:rPr>
              <a:t>NORMAL DAVRANIŞ</a:t>
            </a:r>
            <a:endParaRPr lang="en-US" sz="1050" dirty="0"/>
          </a:p>
        </p:txBody>
      </p:sp>
      <p:sp>
        <p:nvSpPr>
          <p:cNvPr id="6" name="Text 4"/>
          <p:cNvSpPr txBox="1"/>
          <p:nvPr/>
        </p:nvSpPr>
        <p:spPr>
          <a:xfrm>
            <a:off x="777240" y="2212848"/>
            <a:ext cx="274320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10.0.0.50</a:t>
            </a:r>
            <a:endParaRPr lang="en-US" sz="2400" dirty="0"/>
          </a:p>
        </p:txBody>
      </p:sp>
      <p:sp>
        <p:nvSpPr>
          <p:cNvPr id="7" name="Text 5"/>
          <p:cNvSpPr txBox="1"/>
          <p:nvPr/>
        </p:nvSpPr>
        <p:spPr>
          <a:xfrm>
            <a:off x="777240" y="2632840"/>
            <a:ext cx="2743200" cy="685800"/>
          </a:xfrm>
          <a:prstGeom prst="rect">
            <a:avLst/>
          </a:prstGeom>
          <a:noFill/>
          <a:ln/>
        </p:spPr>
        <p:txBody>
          <a:bodyPr wrap="square" lIns="0" tIns="0" rIns="0" bIns="0" rtlCol="0" anchor="ctr"/>
          <a:lstStyle/>
          <a:p>
            <a:pPr marL="0" indent="0">
              <a:lnSpc>
                <a:spcPct val="130000"/>
              </a:lnSpc>
              <a:buNone/>
            </a:pPr>
            <a:r>
              <a:rPr lang="en-US" sz="1150" dirty="0">
                <a:solidFill>
                  <a:srgbClr val="9AA3B2"/>
                </a:solidFill>
                <a:latin typeface="Calibri" pitchFamily="34" charset="0"/>
                <a:ea typeface="Calibri" pitchFamily="34" charset="-122"/>
                <a:cs typeface="Calibri" pitchFamily="34" charset="-120"/>
              </a:rPr>
              <a:t>08:03:11 ve 11:12:44'te — iç ağ IP'si, iki kez</a:t>
            </a:r>
            <a:endParaRPr lang="en-US" sz="1150" dirty="0"/>
          </a:p>
        </p:txBody>
      </p:sp>
      <p:sp>
        <p:nvSpPr>
          <p:cNvPr id="8" name="Text 6"/>
          <p:cNvSpPr txBox="1"/>
          <p:nvPr/>
        </p:nvSpPr>
        <p:spPr>
          <a:xfrm>
            <a:off x="3886200" y="1828800"/>
            <a:ext cx="548640" cy="731520"/>
          </a:xfrm>
          <a:prstGeom prst="rect">
            <a:avLst/>
          </a:prstGeom>
          <a:noFill/>
          <a:ln/>
        </p:spPr>
        <p:txBody>
          <a:bodyPr wrap="square" lIns="0" tIns="0" rIns="0" bIns="0" rtlCol="0" anchor="ctr"/>
          <a:lstStyle/>
          <a:p>
            <a:pPr marL="0" indent="0" algn="ctr">
              <a:buNone/>
            </a:pPr>
            <a:r>
              <a:rPr lang="en-US" sz="2800" b="1" dirty="0">
                <a:solidFill>
                  <a:srgbClr val="5B6472"/>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4572000" y="1325880"/>
            <a:ext cx="3200400" cy="1828800"/>
          </a:xfrm>
          <a:prstGeom prst="roundRect">
            <a:avLst>
              <a:gd name="adj" fmla="val 3500"/>
            </a:avLst>
          </a:prstGeom>
          <a:solidFill>
            <a:srgbClr val="B32833"/>
          </a:solidFill>
          <a:ln w="12700">
            <a:solidFill>
              <a:srgbClr val="B32833"/>
            </a:solidFill>
            <a:prstDash val="solid"/>
          </a:ln>
        </p:spPr>
      </p:sp>
      <p:sp>
        <p:nvSpPr>
          <p:cNvPr id="10" name="Text 8"/>
          <p:cNvSpPr txBox="1"/>
          <p:nvPr/>
        </p:nvSpPr>
        <p:spPr>
          <a:xfrm>
            <a:off x="4800600" y="1920240"/>
            <a:ext cx="2743200" cy="274320"/>
          </a:xfrm>
          <a:prstGeom prst="rect">
            <a:avLst/>
          </a:prstGeom>
          <a:noFill/>
          <a:ln/>
        </p:spPr>
        <p:txBody>
          <a:bodyPr wrap="square" lIns="0" tIns="0" rIns="0" bIns="0" rtlCol="0" anchor="ctr"/>
          <a:lstStyle/>
          <a:p>
            <a:pPr marL="0" indent="0">
              <a:buNone/>
            </a:pPr>
            <a:r>
              <a:rPr lang="en-US" sz="1050" b="1" kern="0" spc="150" dirty="0">
                <a:solidFill>
                  <a:srgbClr val="FFD7D9"/>
                </a:solidFill>
                <a:latin typeface="Calibri" pitchFamily="34" charset="0"/>
                <a:ea typeface="Calibri" pitchFamily="34" charset="-122"/>
                <a:cs typeface="Calibri" pitchFamily="34" charset="-120"/>
              </a:rPr>
              <a:t>SALDIRI ANI</a:t>
            </a:r>
            <a:endParaRPr lang="en-US" sz="1050" dirty="0"/>
          </a:p>
        </p:txBody>
      </p:sp>
      <p:sp>
        <p:nvSpPr>
          <p:cNvPr id="11" name="Text 9"/>
          <p:cNvSpPr txBox="1"/>
          <p:nvPr/>
        </p:nvSpPr>
        <p:spPr>
          <a:xfrm>
            <a:off x="4800600" y="2212848"/>
            <a:ext cx="274320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203.0.113.66</a:t>
            </a:r>
            <a:endParaRPr lang="en-US" sz="2400" dirty="0"/>
          </a:p>
        </p:txBody>
      </p:sp>
      <p:sp>
        <p:nvSpPr>
          <p:cNvPr id="12" name="Text 10"/>
          <p:cNvSpPr txBox="1"/>
          <p:nvPr/>
        </p:nvSpPr>
        <p:spPr>
          <a:xfrm>
            <a:off x="4800600" y="2632840"/>
            <a:ext cx="2743200" cy="685800"/>
          </a:xfrm>
          <a:prstGeom prst="rect">
            <a:avLst/>
          </a:prstGeom>
          <a:noFill/>
          <a:ln/>
        </p:spPr>
        <p:txBody>
          <a:bodyPr wrap="square" lIns="0" tIns="0" rIns="0" bIns="0" rtlCol="0" anchor="ctr"/>
          <a:lstStyle/>
          <a:p>
            <a:pPr marL="0" indent="0">
              <a:lnSpc>
                <a:spcPct val="130000"/>
              </a:lnSpc>
              <a:buNone/>
            </a:pPr>
            <a:r>
              <a:rPr lang="en-US" sz="1150" dirty="0">
                <a:solidFill>
                  <a:srgbClr val="FFE3E4"/>
                </a:solidFill>
                <a:latin typeface="Calibri" pitchFamily="34" charset="0"/>
                <a:ea typeface="Calibri" pitchFamily="34" charset="-122"/>
                <a:cs typeface="Calibri" pitchFamily="34" charset="-120"/>
              </a:rPr>
              <a:t>14:25:53'te — dış/internet IP'si, ilk kez</a:t>
            </a:r>
            <a:endParaRPr lang="en-US" sz="1150" dirty="0"/>
          </a:p>
        </p:txBody>
      </p:sp>
      <p:sp>
        <p:nvSpPr>
          <p:cNvPr id="13" name="Text 11"/>
          <p:cNvSpPr txBox="1"/>
          <p:nvPr/>
        </p:nvSpPr>
        <p:spPr>
          <a:xfrm>
            <a:off x="8275320" y="1234440"/>
            <a:ext cx="3520440" cy="1920240"/>
          </a:xfrm>
          <a:prstGeom prst="rect">
            <a:avLst/>
          </a:prstGeom>
          <a:noFill/>
          <a:ln/>
        </p:spPr>
        <p:txBody>
          <a:bodyPr wrap="square" lIns="0" tIns="0" rIns="0" bIns="0" rtlCol="0" anchor="ctr"/>
          <a:lstStyle/>
          <a:p>
            <a:pPr marL="0" indent="0">
              <a:lnSpc>
                <a:spcPct val="140000"/>
              </a:lnSpc>
              <a:buNone/>
            </a:pPr>
            <a:r>
              <a:rPr lang="en-US" sz="1300" dirty="0">
                <a:solidFill>
                  <a:srgbClr val="C7CEDA"/>
                </a:solidFill>
                <a:latin typeface="Calibri" pitchFamily="34" charset="0"/>
                <a:ea typeface="Calibri" pitchFamily="34" charset="-122"/>
                <a:cs typeface="Calibri" pitchFamily="34" charset="-120"/>
              </a:rPr>
              <a:t>web01 yalnızca iç ağdan erişilen bir sunucu. Aynı hesabın aynı gün önce iç ağdan, sonra dış IP'den giriş yapması davranışsal bir anomalidir ve girişin deploy kullanıcısı tarafından değil, hesabı ele geçiren saldırgan tarafından yapıldığını doğrular.</a:t>
            </a:r>
            <a:endParaRPr lang="en-US" sz="1300" dirty="0"/>
          </a:p>
        </p:txBody>
      </p:sp>
      <p:sp>
        <p:nvSpPr>
          <p:cNvPr id="14" name="Shape 12"/>
          <p:cNvSpPr/>
          <p:nvPr/>
        </p:nvSpPr>
        <p:spPr>
          <a:xfrm>
            <a:off x="548640" y="3391792"/>
            <a:ext cx="7461504" cy="3135760"/>
          </a:xfrm>
          <a:prstGeom prst="roundRect">
            <a:avLst>
              <a:gd name="adj" fmla="val 1458"/>
            </a:avLst>
          </a:prstGeom>
          <a:solidFill>
            <a:srgbClr val="FFFFFF"/>
          </a:solidFill>
          <a:ln w="12700">
            <a:solidFill>
              <a:srgbClr val="D9DFE6"/>
            </a:solidFill>
            <a:prstDash val="solid"/>
          </a:ln>
          <a:effectLst>
            <a:outerShdw blurRad="101600" dist="38100" dir="5400000" algn="bl" rotWithShape="0">
              <a:srgbClr val="000000">
                <a:alpha val="18000"/>
              </a:srgbClr>
            </a:outerShdw>
          </a:effectLst>
        </p:spPr>
      </p:sp>
      <p:pic>
        <p:nvPicPr>
          <p:cNvPr id="15" name="Image 0" descr="/home/claude/screens/deploy_compare.png"/>
          <p:cNvPicPr>
            <a:picLocks noChangeAspect="1"/>
          </p:cNvPicPr>
          <p:nvPr/>
        </p:nvPicPr>
        <p:blipFill>
          <a:blip r:embed="rId3"/>
          <a:stretch>
            <a:fillRect/>
          </a:stretch>
        </p:blipFill>
        <p:spPr>
          <a:xfrm>
            <a:off x="621792" y="3464944"/>
            <a:ext cx="7315200" cy="2989456"/>
          </a:xfrm>
          <a:prstGeom prst="rect">
            <a:avLst/>
          </a:prstGeom>
        </p:spPr>
      </p:pic>
      <p:sp>
        <p:nvSpPr>
          <p:cNvPr id="16" name="Text 13"/>
          <p:cNvSpPr txBox="1"/>
          <p:nvPr/>
        </p:nvSpPr>
        <p:spPr>
          <a:xfrm>
            <a:off x="621792" y="6510528"/>
            <a:ext cx="7315200" cy="274320"/>
          </a:xfrm>
          <a:prstGeom prst="rect">
            <a:avLst/>
          </a:prstGeom>
          <a:noFill/>
          <a:ln/>
        </p:spPr>
        <p:txBody>
          <a:bodyPr wrap="square" lIns="0" tIns="0" rIns="0" bIns="0" rtlCol="0" anchor="ctr"/>
          <a:lstStyle/>
          <a:p>
            <a:pPr marL="0" indent="0">
              <a:buNone/>
            </a:pPr>
            <a:r>
              <a:rPr lang="en-US" sz="1100" i="1" dirty="0">
                <a:solidFill>
                  <a:srgbClr val="5B6472"/>
                </a:solidFill>
                <a:latin typeface="Calibri" pitchFamily="34" charset="0"/>
                <a:ea typeface="Calibri" pitchFamily="34" charset="-122"/>
                <a:cs typeface="Calibri" pitchFamily="34" charset="-120"/>
              </a:rPr>
              <a:t>Şekil 5 — deploy hesabının tüm başarılı girişleri, zaman sırasına göre</a:t>
            </a:r>
            <a:endParaRPr lang="en-US" sz="1100" dirty="0"/>
          </a:p>
        </p:txBody>
      </p:sp>
      <p:sp>
        <p:nvSpPr>
          <p:cNvPr id="18" name="Text 15"/>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ZAMAN ÇIZELGESI</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Keşiften ele geçirmeye: </a:t>
            </a:r>
            <a:r>
              <a:rPr lang="en-US" sz="3200" b="1" dirty="0" smtClean="0">
                <a:solidFill>
                  <a:srgbClr val="1B2430"/>
                </a:solidFill>
                <a:latin typeface="Cambria" pitchFamily="34" charset="0"/>
                <a:ea typeface="Cambria" pitchFamily="34" charset="-122"/>
                <a:cs typeface="Cambria" pitchFamily="34" charset="-120"/>
              </a:rPr>
              <a:t>4 </a:t>
            </a:r>
            <a:r>
              <a:rPr lang="en-US" sz="3200" b="1" dirty="0">
                <a:solidFill>
                  <a:srgbClr val="1B2430"/>
                </a:solidFill>
                <a:latin typeface="Cambria" pitchFamily="34" charset="0"/>
                <a:ea typeface="Cambria" pitchFamily="34" charset="-122"/>
                <a:cs typeface="Cambria" pitchFamily="34" charset="-120"/>
              </a:rPr>
              <a:t>dakika</a:t>
            </a:r>
            <a:endParaRPr lang="en-US" sz="3200" dirty="0"/>
          </a:p>
        </p:txBody>
      </p:sp>
      <p:sp>
        <p:nvSpPr>
          <p:cNvPr id="4" name="Shape 2"/>
          <p:cNvSpPr/>
          <p:nvPr/>
        </p:nvSpPr>
        <p:spPr>
          <a:xfrm>
            <a:off x="822960" y="3246120"/>
            <a:ext cx="10515600" cy="0"/>
          </a:xfrm>
          <a:prstGeom prst="line">
            <a:avLst/>
          </a:prstGeom>
          <a:noFill/>
          <a:ln w="25400">
            <a:solidFill>
              <a:srgbClr val="D9DFE6"/>
            </a:solidFill>
            <a:prstDash val="solid"/>
          </a:ln>
        </p:spPr>
      </p:sp>
      <p:sp>
        <p:nvSpPr>
          <p:cNvPr id="5" name="Shape 3"/>
          <p:cNvSpPr/>
          <p:nvPr/>
        </p:nvSpPr>
        <p:spPr>
          <a:xfrm>
            <a:off x="740664" y="3163824"/>
            <a:ext cx="164592" cy="164592"/>
          </a:xfrm>
          <a:prstGeom prst="ellipse">
            <a:avLst/>
          </a:prstGeom>
          <a:solidFill>
            <a:srgbClr val="26344A"/>
          </a:solidFill>
          <a:ln w="25400">
            <a:solidFill>
              <a:srgbClr val="FFFFFF"/>
            </a:solidFill>
            <a:prstDash val="solid"/>
          </a:ln>
        </p:spPr>
      </p:sp>
      <p:sp>
        <p:nvSpPr>
          <p:cNvPr id="6" name="Shape 4"/>
          <p:cNvSpPr/>
          <p:nvPr/>
        </p:nvSpPr>
        <p:spPr>
          <a:xfrm>
            <a:off x="822960" y="2834640"/>
            <a:ext cx="0" cy="320040"/>
          </a:xfrm>
          <a:prstGeom prst="line">
            <a:avLst/>
          </a:prstGeom>
          <a:noFill/>
          <a:ln w="12700">
            <a:solidFill>
              <a:srgbClr val="D9DFE6"/>
            </a:solidFill>
            <a:prstDash val="solid"/>
          </a:ln>
        </p:spPr>
      </p:sp>
      <p:sp>
        <p:nvSpPr>
          <p:cNvPr id="7" name="Text 5"/>
          <p:cNvSpPr txBox="1"/>
          <p:nvPr/>
        </p:nvSpPr>
        <p:spPr>
          <a:xfrm>
            <a:off x="-45720" y="2651760"/>
            <a:ext cx="1737360" cy="274320"/>
          </a:xfrm>
          <a:prstGeom prst="rect">
            <a:avLst/>
          </a:prstGeom>
          <a:noFill/>
          <a:ln/>
        </p:spPr>
        <p:txBody>
          <a:bodyPr wrap="square" lIns="0" tIns="0" rIns="0" bIns="0" rtlCol="0" anchor="ctr"/>
          <a:lstStyle/>
          <a:p>
            <a:pPr marL="0" indent="0" algn="ctr">
              <a:buNone/>
            </a:pPr>
            <a:r>
              <a:rPr lang="en-US" sz="1200" b="1" dirty="0">
                <a:solidFill>
                  <a:srgbClr val="1B2430"/>
                </a:solidFill>
                <a:latin typeface="Courier New" pitchFamily="34" charset="0"/>
                <a:ea typeface="Courier New" pitchFamily="34" charset="-122"/>
                <a:cs typeface="Courier New" pitchFamily="34" charset="-120"/>
              </a:rPr>
              <a:t>08:03</a:t>
            </a:r>
            <a:endParaRPr lang="en-US" sz="1200" dirty="0"/>
          </a:p>
        </p:txBody>
      </p:sp>
      <p:sp>
        <p:nvSpPr>
          <p:cNvPr id="8" name="Text 6"/>
          <p:cNvSpPr txBox="1"/>
          <p:nvPr/>
        </p:nvSpPr>
        <p:spPr>
          <a:xfrm>
            <a:off x="-146304" y="3246120"/>
            <a:ext cx="2103120" cy="320040"/>
          </a:xfrm>
          <a:prstGeom prst="rect">
            <a:avLst/>
          </a:prstGeom>
          <a:noFill/>
          <a:ln/>
        </p:spPr>
        <p:txBody>
          <a:bodyPr wrap="square" lIns="0" tIns="0" rIns="0" bIns="0"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deploy normal giriş</a:t>
            </a:r>
            <a:endParaRPr lang="en-US" sz="1150" dirty="0"/>
          </a:p>
        </p:txBody>
      </p:sp>
      <p:sp>
        <p:nvSpPr>
          <p:cNvPr id="9" name="Text 7"/>
          <p:cNvSpPr txBox="1"/>
          <p:nvPr/>
        </p:nvSpPr>
        <p:spPr>
          <a:xfrm>
            <a:off x="-228600" y="3438144"/>
            <a:ext cx="2103120" cy="457200"/>
          </a:xfrm>
          <a:prstGeom prst="rect">
            <a:avLst/>
          </a:prstGeom>
          <a:noFill/>
          <a:ln/>
        </p:spPr>
        <p:txBody>
          <a:bodyPr wrap="square" lIns="0" tIns="0" rIns="0" bIns="0" rtlCol="0" anchor="ctr"/>
          <a:lstStyle/>
          <a:p>
            <a:pPr marL="0" indent="0" algn="ctr">
              <a:lnSpc>
                <a:spcPct val="115000"/>
              </a:lnSpc>
              <a:buNone/>
            </a:pPr>
            <a:r>
              <a:rPr lang="en-US" sz="1000" dirty="0">
                <a:solidFill>
                  <a:srgbClr val="5B6472"/>
                </a:solidFill>
                <a:latin typeface="Calibri" pitchFamily="34" charset="0"/>
                <a:ea typeface="Calibri" pitchFamily="34" charset="-122"/>
                <a:cs typeface="Calibri" pitchFamily="34" charset="-120"/>
              </a:rPr>
              <a:t>10.0.0.50 (iç ağ)</a:t>
            </a:r>
            <a:endParaRPr lang="en-US" sz="1000" dirty="0"/>
          </a:p>
        </p:txBody>
      </p:sp>
      <p:sp>
        <p:nvSpPr>
          <p:cNvPr id="10" name="Shape 8"/>
          <p:cNvSpPr/>
          <p:nvPr/>
        </p:nvSpPr>
        <p:spPr>
          <a:xfrm>
            <a:off x="2843784" y="3163824"/>
            <a:ext cx="164592" cy="164592"/>
          </a:xfrm>
          <a:prstGeom prst="ellipse">
            <a:avLst/>
          </a:prstGeom>
          <a:solidFill>
            <a:srgbClr val="26344A"/>
          </a:solidFill>
          <a:ln w="25400">
            <a:solidFill>
              <a:srgbClr val="FFFFFF"/>
            </a:solidFill>
            <a:prstDash val="solid"/>
          </a:ln>
        </p:spPr>
      </p:sp>
      <p:sp>
        <p:nvSpPr>
          <p:cNvPr id="11" name="Shape 9"/>
          <p:cNvSpPr/>
          <p:nvPr/>
        </p:nvSpPr>
        <p:spPr>
          <a:xfrm>
            <a:off x="2926080" y="3328416"/>
            <a:ext cx="0" cy="320040"/>
          </a:xfrm>
          <a:prstGeom prst="line">
            <a:avLst/>
          </a:prstGeom>
          <a:noFill/>
          <a:ln w="12700">
            <a:solidFill>
              <a:srgbClr val="D9DFE6"/>
            </a:solidFill>
            <a:prstDash val="solid"/>
          </a:ln>
        </p:spPr>
      </p:sp>
      <p:sp>
        <p:nvSpPr>
          <p:cNvPr id="12" name="Text 10"/>
          <p:cNvSpPr txBox="1"/>
          <p:nvPr/>
        </p:nvSpPr>
        <p:spPr>
          <a:xfrm>
            <a:off x="2057400" y="3520440"/>
            <a:ext cx="1737360" cy="274320"/>
          </a:xfrm>
          <a:prstGeom prst="rect">
            <a:avLst/>
          </a:prstGeom>
          <a:noFill/>
          <a:ln/>
        </p:spPr>
        <p:txBody>
          <a:bodyPr wrap="square" lIns="0" tIns="0" rIns="0" bIns="0" rtlCol="0" anchor="ctr"/>
          <a:lstStyle/>
          <a:p>
            <a:pPr marL="0" indent="0" algn="ctr">
              <a:buNone/>
            </a:pPr>
            <a:r>
              <a:rPr lang="en-US" sz="1200" b="1" dirty="0">
                <a:solidFill>
                  <a:srgbClr val="1B2430"/>
                </a:solidFill>
                <a:latin typeface="Courier New" pitchFamily="34" charset="0"/>
                <a:ea typeface="Courier New" pitchFamily="34" charset="-122"/>
                <a:cs typeface="Courier New" pitchFamily="34" charset="-120"/>
              </a:rPr>
              <a:t>11:12</a:t>
            </a:r>
            <a:endParaRPr lang="en-US" sz="1200" dirty="0"/>
          </a:p>
        </p:txBody>
      </p:sp>
      <p:sp>
        <p:nvSpPr>
          <p:cNvPr id="13" name="Text 11"/>
          <p:cNvSpPr txBox="1"/>
          <p:nvPr/>
        </p:nvSpPr>
        <p:spPr>
          <a:xfrm>
            <a:off x="1874520" y="3794760"/>
            <a:ext cx="2103120" cy="320040"/>
          </a:xfrm>
          <a:prstGeom prst="rect">
            <a:avLst/>
          </a:prstGeom>
          <a:noFill/>
          <a:ln/>
        </p:spPr>
        <p:txBody>
          <a:bodyPr wrap="square" lIns="0" tIns="0" rIns="0" bIns="0"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deploy normal giriş</a:t>
            </a:r>
            <a:endParaRPr lang="en-US" sz="1150" dirty="0"/>
          </a:p>
        </p:txBody>
      </p:sp>
      <p:sp>
        <p:nvSpPr>
          <p:cNvPr id="14" name="Text 12"/>
          <p:cNvSpPr txBox="1"/>
          <p:nvPr/>
        </p:nvSpPr>
        <p:spPr>
          <a:xfrm>
            <a:off x="1874520" y="4087368"/>
            <a:ext cx="2103120" cy="457200"/>
          </a:xfrm>
          <a:prstGeom prst="rect">
            <a:avLst/>
          </a:prstGeom>
          <a:noFill/>
          <a:ln/>
        </p:spPr>
        <p:txBody>
          <a:bodyPr wrap="square" lIns="0" tIns="0" rIns="0" bIns="0" rtlCol="0" anchor="ctr"/>
          <a:lstStyle/>
          <a:p>
            <a:pPr marL="0" indent="0" algn="ctr">
              <a:lnSpc>
                <a:spcPct val="115000"/>
              </a:lnSpc>
              <a:buNone/>
            </a:pPr>
            <a:r>
              <a:rPr lang="en-US" sz="1000" dirty="0">
                <a:solidFill>
                  <a:srgbClr val="5B6472"/>
                </a:solidFill>
                <a:latin typeface="Calibri" pitchFamily="34" charset="0"/>
                <a:ea typeface="Calibri" pitchFamily="34" charset="-122"/>
                <a:cs typeface="Calibri" pitchFamily="34" charset="-120"/>
              </a:rPr>
              <a:t>10.0.0.50 (iç ağ)</a:t>
            </a:r>
            <a:endParaRPr lang="en-US" sz="1000" dirty="0"/>
          </a:p>
        </p:txBody>
      </p:sp>
      <p:sp>
        <p:nvSpPr>
          <p:cNvPr id="15" name="Shape 13"/>
          <p:cNvSpPr/>
          <p:nvPr/>
        </p:nvSpPr>
        <p:spPr>
          <a:xfrm>
            <a:off x="4946904" y="3163824"/>
            <a:ext cx="164592" cy="164592"/>
          </a:xfrm>
          <a:prstGeom prst="ellipse">
            <a:avLst/>
          </a:prstGeom>
          <a:solidFill>
            <a:srgbClr val="26344A"/>
          </a:solidFill>
          <a:ln w="25400">
            <a:solidFill>
              <a:srgbClr val="FFFFFF"/>
            </a:solidFill>
            <a:prstDash val="solid"/>
          </a:ln>
        </p:spPr>
      </p:sp>
      <p:sp>
        <p:nvSpPr>
          <p:cNvPr id="16" name="Shape 14"/>
          <p:cNvSpPr/>
          <p:nvPr/>
        </p:nvSpPr>
        <p:spPr>
          <a:xfrm>
            <a:off x="5029200" y="2843784"/>
            <a:ext cx="0" cy="320040"/>
          </a:xfrm>
          <a:prstGeom prst="line">
            <a:avLst/>
          </a:prstGeom>
          <a:noFill/>
          <a:ln w="12700">
            <a:solidFill>
              <a:srgbClr val="D9DFE6"/>
            </a:solidFill>
            <a:prstDash val="solid"/>
          </a:ln>
        </p:spPr>
      </p:sp>
      <p:sp>
        <p:nvSpPr>
          <p:cNvPr id="17" name="Text 15"/>
          <p:cNvSpPr txBox="1"/>
          <p:nvPr/>
        </p:nvSpPr>
        <p:spPr>
          <a:xfrm>
            <a:off x="4160520" y="2651760"/>
            <a:ext cx="1737360" cy="274320"/>
          </a:xfrm>
          <a:prstGeom prst="rect">
            <a:avLst/>
          </a:prstGeom>
          <a:noFill/>
          <a:ln/>
        </p:spPr>
        <p:txBody>
          <a:bodyPr wrap="square" lIns="0" tIns="0" rIns="0" bIns="0" rtlCol="0" anchor="ctr"/>
          <a:lstStyle/>
          <a:p>
            <a:pPr marL="0" indent="0" algn="ctr">
              <a:buNone/>
            </a:pPr>
            <a:r>
              <a:rPr lang="en-US" sz="1200" b="1" dirty="0">
                <a:solidFill>
                  <a:srgbClr val="1B2430"/>
                </a:solidFill>
                <a:latin typeface="Courier New" pitchFamily="34" charset="0"/>
                <a:ea typeface="Courier New" pitchFamily="34" charset="-122"/>
                <a:cs typeface="Courier New" pitchFamily="34" charset="-120"/>
              </a:rPr>
              <a:t>14:22</a:t>
            </a:r>
            <a:endParaRPr lang="en-US" sz="1200" dirty="0"/>
          </a:p>
        </p:txBody>
      </p:sp>
      <p:sp>
        <p:nvSpPr>
          <p:cNvPr id="18" name="Text 16"/>
          <p:cNvSpPr txBox="1"/>
          <p:nvPr/>
        </p:nvSpPr>
        <p:spPr>
          <a:xfrm>
            <a:off x="3977640" y="3246120"/>
            <a:ext cx="2103120" cy="320040"/>
          </a:xfrm>
          <a:prstGeom prst="rect">
            <a:avLst/>
          </a:prstGeom>
          <a:noFill/>
          <a:ln/>
        </p:spPr>
        <p:txBody>
          <a:bodyPr wrap="square" lIns="0" tIns="0" rIns="0" bIns="0"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Brute-force başlıyor</a:t>
            </a:r>
            <a:endParaRPr lang="en-US" sz="1150" dirty="0"/>
          </a:p>
        </p:txBody>
      </p:sp>
      <p:sp>
        <p:nvSpPr>
          <p:cNvPr id="19" name="Text 17"/>
          <p:cNvSpPr txBox="1"/>
          <p:nvPr/>
        </p:nvSpPr>
        <p:spPr>
          <a:xfrm>
            <a:off x="3977640" y="3438144"/>
            <a:ext cx="2103120" cy="457200"/>
          </a:xfrm>
          <a:prstGeom prst="rect">
            <a:avLst/>
          </a:prstGeom>
          <a:noFill/>
          <a:ln/>
        </p:spPr>
        <p:txBody>
          <a:bodyPr wrap="square" lIns="0" tIns="0" rIns="0" bIns="0" rtlCol="0" anchor="ctr"/>
          <a:lstStyle/>
          <a:p>
            <a:pPr marL="0" indent="0" algn="ctr">
              <a:lnSpc>
                <a:spcPct val="115000"/>
              </a:lnSpc>
              <a:buNone/>
            </a:pPr>
            <a:r>
              <a:rPr lang="en-US" sz="1000" dirty="0">
                <a:solidFill>
                  <a:srgbClr val="5B6472"/>
                </a:solidFill>
                <a:latin typeface="Calibri" pitchFamily="34" charset="0"/>
                <a:ea typeface="Calibri" pitchFamily="34" charset="-122"/>
                <a:cs typeface="Calibri" pitchFamily="34" charset="-120"/>
              </a:rPr>
              <a:t>203.0.113.66'dan ilk deneme</a:t>
            </a:r>
            <a:endParaRPr lang="en-US" sz="1000" dirty="0"/>
          </a:p>
        </p:txBody>
      </p:sp>
      <p:sp>
        <p:nvSpPr>
          <p:cNvPr id="20" name="Shape 18"/>
          <p:cNvSpPr/>
          <p:nvPr/>
        </p:nvSpPr>
        <p:spPr>
          <a:xfrm>
            <a:off x="7050024" y="3163824"/>
            <a:ext cx="164592" cy="164592"/>
          </a:xfrm>
          <a:prstGeom prst="ellipse">
            <a:avLst/>
          </a:prstGeom>
          <a:solidFill>
            <a:srgbClr val="E63946"/>
          </a:solidFill>
          <a:ln w="25400">
            <a:solidFill>
              <a:srgbClr val="FFFFFF"/>
            </a:solidFill>
            <a:prstDash val="solid"/>
          </a:ln>
        </p:spPr>
      </p:sp>
      <p:sp>
        <p:nvSpPr>
          <p:cNvPr id="21" name="Shape 19"/>
          <p:cNvSpPr/>
          <p:nvPr/>
        </p:nvSpPr>
        <p:spPr>
          <a:xfrm>
            <a:off x="7132320" y="3328416"/>
            <a:ext cx="0" cy="320040"/>
          </a:xfrm>
          <a:prstGeom prst="line">
            <a:avLst/>
          </a:prstGeom>
          <a:noFill/>
          <a:ln w="12700">
            <a:solidFill>
              <a:srgbClr val="D9DFE6"/>
            </a:solidFill>
            <a:prstDash val="solid"/>
          </a:ln>
        </p:spPr>
      </p:sp>
      <p:sp>
        <p:nvSpPr>
          <p:cNvPr id="22" name="Text 20"/>
          <p:cNvSpPr txBox="1"/>
          <p:nvPr/>
        </p:nvSpPr>
        <p:spPr>
          <a:xfrm>
            <a:off x="6263640" y="3520440"/>
            <a:ext cx="1737360" cy="274320"/>
          </a:xfrm>
          <a:prstGeom prst="rect">
            <a:avLst/>
          </a:prstGeom>
          <a:noFill/>
          <a:ln/>
        </p:spPr>
        <p:txBody>
          <a:bodyPr wrap="square" lIns="0" tIns="0" rIns="0" bIns="0" rtlCol="0" anchor="ctr"/>
          <a:lstStyle/>
          <a:p>
            <a:pPr marL="0" indent="0" algn="ctr">
              <a:buNone/>
            </a:pPr>
            <a:r>
              <a:rPr lang="en-US" sz="1200" b="1" dirty="0">
                <a:solidFill>
                  <a:srgbClr val="B32833"/>
                </a:solidFill>
                <a:latin typeface="Courier New" pitchFamily="34" charset="0"/>
                <a:ea typeface="Courier New" pitchFamily="34" charset="-122"/>
                <a:cs typeface="Courier New" pitchFamily="34" charset="-120"/>
              </a:rPr>
              <a:t>14:25:53</a:t>
            </a:r>
            <a:endParaRPr lang="en-US" sz="1200" dirty="0"/>
          </a:p>
        </p:txBody>
      </p:sp>
      <p:sp>
        <p:nvSpPr>
          <p:cNvPr id="23" name="Text 21"/>
          <p:cNvSpPr txBox="1"/>
          <p:nvPr/>
        </p:nvSpPr>
        <p:spPr>
          <a:xfrm>
            <a:off x="6080760" y="3794760"/>
            <a:ext cx="2103120" cy="320040"/>
          </a:xfrm>
          <a:prstGeom prst="rect">
            <a:avLst/>
          </a:prstGeom>
          <a:noFill/>
          <a:ln/>
        </p:spPr>
        <p:txBody>
          <a:bodyPr wrap="square" lIns="0" tIns="0" rIns="0" bIns="0"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Hesap ele geçirildi</a:t>
            </a:r>
            <a:endParaRPr lang="en-US" sz="1150" dirty="0"/>
          </a:p>
        </p:txBody>
      </p:sp>
      <p:sp>
        <p:nvSpPr>
          <p:cNvPr id="24" name="Text 22"/>
          <p:cNvSpPr txBox="1"/>
          <p:nvPr/>
        </p:nvSpPr>
        <p:spPr>
          <a:xfrm>
            <a:off x="6080760" y="4087368"/>
            <a:ext cx="2103120" cy="457200"/>
          </a:xfrm>
          <a:prstGeom prst="rect">
            <a:avLst/>
          </a:prstGeom>
          <a:noFill/>
          <a:ln/>
        </p:spPr>
        <p:txBody>
          <a:bodyPr wrap="square" lIns="0" tIns="0" rIns="0" bIns="0" rtlCol="0" anchor="ctr"/>
          <a:lstStyle/>
          <a:p>
            <a:pPr marL="0" indent="0" algn="ctr">
              <a:lnSpc>
                <a:spcPct val="115000"/>
              </a:lnSpc>
              <a:buNone/>
            </a:pPr>
            <a:r>
              <a:rPr lang="en-US" sz="1000" dirty="0">
                <a:solidFill>
                  <a:srgbClr val="5B6472"/>
                </a:solidFill>
                <a:latin typeface="Calibri" pitchFamily="34" charset="0"/>
                <a:ea typeface="Calibri" pitchFamily="34" charset="-122"/>
                <a:cs typeface="Calibri" pitchFamily="34" charset="-120"/>
              </a:rPr>
              <a:t>deploy — 203.0.113.66</a:t>
            </a:r>
            <a:endParaRPr lang="en-US" sz="1000" dirty="0"/>
          </a:p>
        </p:txBody>
      </p:sp>
      <p:sp>
        <p:nvSpPr>
          <p:cNvPr id="25" name="Shape 23"/>
          <p:cNvSpPr/>
          <p:nvPr/>
        </p:nvSpPr>
        <p:spPr>
          <a:xfrm>
            <a:off x="9153144" y="3163824"/>
            <a:ext cx="164592" cy="164592"/>
          </a:xfrm>
          <a:prstGeom prst="ellipse">
            <a:avLst/>
          </a:prstGeom>
          <a:solidFill>
            <a:srgbClr val="E63946"/>
          </a:solidFill>
          <a:ln w="25400">
            <a:solidFill>
              <a:srgbClr val="FFFFFF"/>
            </a:solidFill>
            <a:prstDash val="solid"/>
          </a:ln>
        </p:spPr>
      </p:sp>
      <p:sp>
        <p:nvSpPr>
          <p:cNvPr id="26" name="Shape 24"/>
          <p:cNvSpPr/>
          <p:nvPr/>
        </p:nvSpPr>
        <p:spPr>
          <a:xfrm>
            <a:off x="9235440" y="2811780"/>
            <a:ext cx="0" cy="320040"/>
          </a:xfrm>
          <a:prstGeom prst="line">
            <a:avLst/>
          </a:prstGeom>
          <a:noFill/>
          <a:ln w="12700">
            <a:solidFill>
              <a:srgbClr val="D9DFE6"/>
            </a:solidFill>
            <a:prstDash val="solid"/>
          </a:ln>
        </p:spPr>
      </p:sp>
      <p:sp>
        <p:nvSpPr>
          <p:cNvPr id="27" name="Text 25"/>
          <p:cNvSpPr txBox="1"/>
          <p:nvPr/>
        </p:nvSpPr>
        <p:spPr>
          <a:xfrm>
            <a:off x="8366760" y="2651760"/>
            <a:ext cx="1737360" cy="274320"/>
          </a:xfrm>
          <a:prstGeom prst="rect">
            <a:avLst/>
          </a:prstGeom>
          <a:noFill/>
          <a:ln/>
        </p:spPr>
        <p:txBody>
          <a:bodyPr wrap="square" lIns="0" tIns="0" rIns="0" bIns="0" rtlCol="0" anchor="ctr"/>
          <a:lstStyle/>
          <a:p>
            <a:pPr marL="0" indent="0" algn="ctr">
              <a:buNone/>
            </a:pPr>
            <a:r>
              <a:rPr lang="en-US" sz="1200" b="1" dirty="0">
                <a:solidFill>
                  <a:srgbClr val="B32833"/>
                </a:solidFill>
                <a:latin typeface="Courier New" pitchFamily="34" charset="0"/>
                <a:ea typeface="Courier New" pitchFamily="34" charset="-122"/>
                <a:cs typeface="Courier New" pitchFamily="34" charset="-120"/>
              </a:rPr>
              <a:t>14:25:54</a:t>
            </a:r>
            <a:endParaRPr lang="en-US" sz="1200" dirty="0"/>
          </a:p>
        </p:txBody>
      </p:sp>
      <p:sp>
        <p:nvSpPr>
          <p:cNvPr id="28" name="Text 26"/>
          <p:cNvSpPr txBox="1"/>
          <p:nvPr/>
        </p:nvSpPr>
        <p:spPr>
          <a:xfrm>
            <a:off x="8266176" y="3246120"/>
            <a:ext cx="2103120" cy="320040"/>
          </a:xfrm>
          <a:prstGeom prst="rect">
            <a:avLst/>
          </a:prstGeom>
          <a:noFill/>
          <a:ln/>
        </p:spPr>
        <p:txBody>
          <a:bodyPr wrap="square" lIns="0" tIns="0" rIns="0" bIns="0"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/etc/shadow okunuyor</a:t>
            </a:r>
            <a:endParaRPr lang="en-US" sz="1150" dirty="0"/>
          </a:p>
        </p:txBody>
      </p:sp>
      <p:sp>
        <p:nvSpPr>
          <p:cNvPr id="29" name="Text 27"/>
          <p:cNvSpPr txBox="1"/>
          <p:nvPr/>
        </p:nvSpPr>
        <p:spPr>
          <a:xfrm>
            <a:off x="8183880" y="3438144"/>
            <a:ext cx="2103120" cy="457200"/>
          </a:xfrm>
          <a:prstGeom prst="rect">
            <a:avLst/>
          </a:prstGeom>
          <a:noFill/>
          <a:ln/>
        </p:spPr>
        <p:txBody>
          <a:bodyPr wrap="square" lIns="0" tIns="0" rIns="0" bIns="0" rtlCol="0" anchor="ctr"/>
          <a:lstStyle/>
          <a:p>
            <a:pPr marL="0" indent="0" algn="ctr">
              <a:lnSpc>
                <a:spcPct val="115000"/>
              </a:lnSpc>
              <a:buNone/>
            </a:pPr>
            <a:r>
              <a:rPr lang="en-US" sz="1000" dirty="0">
                <a:solidFill>
                  <a:srgbClr val="5B6472"/>
                </a:solidFill>
                <a:latin typeface="Calibri" pitchFamily="34" charset="0"/>
                <a:ea typeface="Calibri" pitchFamily="34" charset="-122"/>
                <a:cs typeface="Calibri" pitchFamily="34" charset="-120"/>
              </a:rPr>
              <a:t>kimlik bilgisi erişimi</a:t>
            </a:r>
            <a:endParaRPr lang="en-US" sz="1000" dirty="0"/>
          </a:p>
        </p:txBody>
      </p:sp>
      <p:sp>
        <p:nvSpPr>
          <p:cNvPr id="30" name="Shape 28"/>
          <p:cNvSpPr/>
          <p:nvPr/>
        </p:nvSpPr>
        <p:spPr>
          <a:xfrm>
            <a:off x="11256264" y="3163824"/>
            <a:ext cx="164592" cy="164592"/>
          </a:xfrm>
          <a:prstGeom prst="ellipse">
            <a:avLst/>
          </a:prstGeom>
          <a:solidFill>
            <a:srgbClr val="E63946"/>
          </a:solidFill>
          <a:ln w="25400">
            <a:solidFill>
              <a:srgbClr val="FFFFFF"/>
            </a:solidFill>
            <a:prstDash val="solid"/>
          </a:ln>
        </p:spPr>
      </p:sp>
      <p:sp>
        <p:nvSpPr>
          <p:cNvPr id="31" name="Shape 29"/>
          <p:cNvSpPr/>
          <p:nvPr/>
        </p:nvSpPr>
        <p:spPr>
          <a:xfrm>
            <a:off x="11338560" y="3328416"/>
            <a:ext cx="0" cy="320040"/>
          </a:xfrm>
          <a:prstGeom prst="line">
            <a:avLst/>
          </a:prstGeom>
          <a:noFill/>
          <a:ln w="12700">
            <a:solidFill>
              <a:srgbClr val="D9DFE6"/>
            </a:solidFill>
            <a:prstDash val="solid"/>
          </a:ln>
        </p:spPr>
      </p:sp>
      <p:sp>
        <p:nvSpPr>
          <p:cNvPr id="32" name="Text 30"/>
          <p:cNvSpPr txBox="1"/>
          <p:nvPr/>
        </p:nvSpPr>
        <p:spPr>
          <a:xfrm>
            <a:off x="10469880" y="3520440"/>
            <a:ext cx="1737360" cy="274320"/>
          </a:xfrm>
          <a:prstGeom prst="rect">
            <a:avLst/>
          </a:prstGeom>
          <a:noFill/>
          <a:ln/>
        </p:spPr>
        <p:txBody>
          <a:bodyPr wrap="square" lIns="0" tIns="0" rIns="0" bIns="0" rtlCol="0" anchor="ctr"/>
          <a:lstStyle/>
          <a:p>
            <a:pPr marL="0" indent="0" algn="ctr">
              <a:buNone/>
            </a:pPr>
            <a:r>
              <a:rPr lang="en-US" sz="1200" b="1" dirty="0">
                <a:solidFill>
                  <a:srgbClr val="B32833"/>
                </a:solidFill>
                <a:latin typeface="Courier New" pitchFamily="34" charset="0"/>
                <a:ea typeface="Courier New" pitchFamily="34" charset="-122"/>
                <a:cs typeface="Courier New" pitchFamily="34" charset="-120"/>
              </a:rPr>
              <a:t>14:26:01</a:t>
            </a:r>
            <a:endParaRPr lang="en-US" sz="1200" dirty="0"/>
          </a:p>
        </p:txBody>
      </p:sp>
      <p:sp>
        <p:nvSpPr>
          <p:cNvPr id="33" name="Text 31"/>
          <p:cNvSpPr txBox="1"/>
          <p:nvPr/>
        </p:nvSpPr>
        <p:spPr>
          <a:xfrm>
            <a:off x="10287000" y="3794760"/>
            <a:ext cx="2103120" cy="320040"/>
          </a:xfrm>
          <a:prstGeom prst="rect">
            <a:avLst/>
          </a:prstGeom>
          <a:noFill/>
          <a:ln/>
        </p:spPr>
        <p:txBody>
          <a:bodyPr wrap="square" lIns="0" tIns="0" rIns="0" bIns="0"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svc-update oluşturuldu</a:t>
            </a:r>
            <a:endParaRPr lang="en-US" sz="1150" dirty="0"/>
          </a:p>
        </p:txBody>
      </p:sp>
      <p:sp>
        <p:nvSpPr>
          <p:cNvPr id="34" name="Text 32"/>
          <p:cNvSpPr txBox="1"/>
          <p:nvPr/>
        </p:nvSpPr>
        <p:spPr>
          <a:xfrm>
            <a:off x="10287000" y="4087368"/>
            <a:ext cx="2103120" cy="457200"/>
          </a:xfrm>
          <a:prstGeom prst="rect">
            <a:avLst/>
          </a:prstGeom>
          <a:noFill/>
          <a:ln/>
        </p:spPr>
        <p:txBody>
          <a:bodyPr wrap="square" lIns="0" tIns="0" rIns="0" bIns="0" rtlCol="0" anchor="ctr"/>
          <a:lstStyle/>
          <a:p>
            <a:pPr marL="0" indent="0" algn="ctr">
              <a:lnSpc>
                <a:spcPct val="115000"/>
              </a:lnSpc>
              <a:buNone/>
            </a:pPr>
            <a:r>
              <a:rPr lang="en-US" sz="1000" dirty="0">
                <a:solidFill>
                  <a:srgbClr val="5B6472"/>
                </a:solidFill>
                <a:latin typeface="Calibri" pitchFamily="34" charset="0"/>
                <a:ea typeface="Calibri" pitchFamily="34" charset="-122"/>
                <a:cs typeface="Calibri" pitchFamily="34" charset="-120"/>
              </a:rPr>
              <a:t>kalıcılık (persistence)</a:t>
            </a:r>
            <a:endParaRPr lang="en-US" sz="1000" dirty="0"/>
          </a:p>
        </p:txBody>
      </p:sp>
      <p:sp>
        <p:nvSpPr>
          <p:cNvPr id="36" name="Text 34"/>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SORU 6</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Saldırgan girişten sonra ne yaptı?</a:t>
            </a:r>
            <a:endParaRPr lang="en-US" sz="3200" dirty="0"/>
          </a:p>
        </p:txBody>
      </p:sp>
      <p:sp>
        <p:nvSpPr>
          <p:cNvPr id="4" name="Shape 2"/>
          <p:cNvSpPr/>
          <p:nvPr/>
        </p:nvSpPr>
        <p:spPr>
          <a:xfrm>
            <a:off x="475488" y="1618488"/>
            <a:ext cx="7141464" cy="3004972"/>
          </a:xfrm>
          <a:prstGeom prst="roundRect">
            <a:avLst>
              <a:gd name="adj" fmla="val 1521"/>
            </a:avLst>
          </a:prstGeom>
          <a:solidFill>
            <a:srgbClr val="FFFFFF"/>
          </a:solidFill>
          <a:ln w="12700">
            <a:solidFill>
              <a:srgbClr val="D9DFE6"/>
            </a:solidFill>
            <a:prstDash val="solid"/>
          </a:ln>
          <a:effectLst>
            <a:outerShdw blurRad="101600" dist="38100" dir="5400000" algn="bl" rotWithShape="0">
              <a:srgbClr val="000000">
                <a:alpha val="18000"/>
              </a:srgbClr>
            </a:outerShdw>
          </a:effectLst>
        </p:spPr>
      </p:sp>
      <p:pic>
        <p:nvPicPr>
          <p:cNvPr id="5" name="Image 0" descr="/home/claude/screens/sudo_commands.png"/>
          <p:cNvPicPr>
            <a:picLocks noChangeAspect="1"/>
          </p:cNvPicPr>
          <p:nvPr/>
        </p:nvPicPr>
        <p:blipFill>
          <a:blip r:embed="rId3"/>
          <a:stretch>
            <a:fillRect/>
          </a:stretch>
        </p:blipFill>
        <p:spPr>
          <a:xfrm>
            <a:off x="548640" y="1691640"/>
            <a:ext cx="6995160" cy="2858668"/>
          </a:xfrm>
          <a:prstGeom prst="rect">
            <a:avLst/>
          </a:prstGeom>
        </p:spPr>
      </p:pic>
      <p:sp>
        <p:nvSpPr>
          <p:cNvPr id="6" name="Text 3"/>
          <p:cNvSpPr txBox="1"/>
          <p:nvPr/>
        </p:nvSpPr>
        <p:spPr>
          <a:xfrm>
            <a:off x="548640" y="4660036"/>
            <a:ext cx="6995160" cy="274320"/>
          </a:xfrm>
          <a:prstGeom prst="rect">
            <a:avLst/>
          </a:prstGeom>
          <a:noFill/>
          <a:ln/>
        </p:spPr>
        <p:txBody>
          <a:bodyPr wrap="square" lIns="0" tIns="0" rIns="0" bIns="0" rtlCol="0" anchor="ctr"/>
          <a:lstStyle/>
          <a:p>
            <a:pPr marL="0" indent="0">
              <a:buNone/>
            </a:pPr>
            <a:r>
              <a:rPr lang="en-US" sz="1100" i="1" dirty="0">
                <a:solidFill>
                  <a:srgbClr val="5B6472"/>
                </a:solidFill>
                <a:latin typeface="Calibri" pitchFamily="34" charset="0"/>
                <a:ea typeface="Calibri" pitchFamily="34" charset="-122"/>
                <a:cs typeface="Calibri" pitchFamily="34" charset="-120"/>
              </a:rPr>
              <a:t>Şekil 6 — deploy hesabıyla çalıştırılan sudo komutları</a:t>
            </a:r>
            <a:endParaRPr lang="en-US" sz="1100" dirty="0"/>
          </a:p>
        </p:txBody>
      </p:sp>
      <p:sp>
        <p:nvSpPr>
          <p:cNvPr id="7" name="Shape 4"/>
          <p:cNvSpPr/>
          <p:nvPr/>
        </p:nvSpPr>
        <p:spPr>
          <a:xfrm>
            <a:off x="7863840" y="1828800"/>
            <a:ext cx="457200" cy="457200"/>
          </a:xfrm>
          <a:prstGeom prst="ellipse">
            <a:avLst/>
          </a:prstGeom>
          <a:solidFill>
            <a:srgbClr val="B32833"/>
          </a:solidFill>
          <a:ln w="12700">
            <a:solidFill>
              <a:srgbClr val="B32833"/>
            </a:solidFill>
            <a:prstDash val="solid"/>
          </a:ln>
        </p:spPr>
      </p:sp>
      <p:sp>
        <p:nvSpPr>
          <p:cNvPr id="8" name="Text 5"/>
          <p:cNvSpPr txBox="1"/>
          <p:nvPr/>
        </p:nvSpPr>
        <p:spPr>
          <a:xfrm>
            <a:off x="7863840" y="1828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8485632" y="1801368"/>
            <a:ext cx="3127248" cy="292608"/>
          </a:xfrm>
          <a:prstGeom prst="rect">
            <a:avLst/>
          </a:prstGeom>
          <a:noFill/>
          <a:ln/>
        </p:spPr>
        <p:txBody>
          <a:bodyPr wrap="square" lIns="0" tIns="0" rIns="0" bIns="0" rtlCol="0" anchor="ctr"/>
          <a:lstStyle/>
          <a:p>
            <a:pPr marL="0" indent="0">
              <a:buNone/>
            </a:pPr>
            <a:r>
              <a:rPr lang="en-US" sz="1350" b="1" dirty="0">
                <a:solidFill>
                  <a:srgbClr val="1B2430"/>
                </a:solidFill>
                <a:latin typeface="Calibri" pitchFamily="34" charset="0"/>
                <a:ea typeface="Calibri" pitchFamily="34" charset="-122"/>
                <a:cs typeface="Calibri" pitchFamily="34" charset="-120"/>
              </a:rPr>
              <a:t>14:25:54 — /etc/shadow okundu</a:t>
            </a:r>
            <a:endParaRPr lang="en-US" sz="1350" dirty="0"/>
          </a:p>
        </p:txBody>
      </p:sp>
      <p:sp>
        <p:nvSpPr>
          <p:cNvPr id="10" name="Text 7"/>
          <p:cNvSpPr txBox="1"/>
          <p:nvPr/>
        </p:nvSpPr>
        <p:spPr>
          <a:xfrm>
            <a:off x="8485632" y="2084832"/>
            <a:ext cx="3127248" cy="502920"/>
          </a:xfrm>
          <a:prstGeom prst="rect">
            <a:avLst/>
          </a:prstGeom>
          <a:noFill/>
          <a:ln/>
        </p:spPr>
        <p:txBody>
          <a:bodyPr wrap="square" lIns="0" tIns="0" rIns="0" bIns="0" rtlCol="0" anchor="t"/>
          <a:lstStyle/>
          <a:p>
            <a:pPr marL="0" indent="0">
              <a:lnSpc>
                <a:spcPct val="110000"/>
              </a:lnSpc>
              <a:buNone/>
            </a:pPr>
            <a:r>
              <a:rPr lang="en-US" sz="1150" dirty="0">
                <a:solidFill>
                  <a:srgbClr val="5B6472"/>
                </a:solidFill>
                <a:latin typeface="Calibri" pitchFamily="34" charset="0"/>
                <a:ea typeface="Calibri" pitchFamily="34" charset="-122"/>
                <a:cs typeface="Calibri" pitchFamily="34" charset="-120"/>
              </a:rPr>
              <a:t>sudo cat /etc/shadow: sistemdeki tüm kullanıcıların parola hash'lerine erişim denemesi.</a:t>
            </a:r>
            <a:endParaRPr lang="en-US" sz="1150" dirty="0"/>
          </a:p>
        </p:txBody>
      </p:sp>
      <p:sp>
        <p:nvSpPr>
          <p:cNvPr id="11" name="Shape 8"/>
          <p:cNvSpPr/>
          <p:nvPr/>
        </p:nvSpPr>
        <p:spPr>
          <a:xfrm>
            <a:off x="7863840" y="3063240"/>
            <a:ext cx="457200" cy="457200"/>
          </a:xfrm>
          <a:prstGeom prst="ellipse">
            <a:avLst/>
          </a:prstGeom>
          <a:solidFill>
            <a:srgbClr val="B32833"/>
          </a:solidFill>
          <a:ln w="12700">
            <a:solidFill>
              <a:srgbClr val="B32833"/>
            </a:solidFill>
            <a:prstDash val="solid"/>
          </a:ln>
        </p:spPr>
      </p:sp>
      <p:sp>
        <p:nvSpPr>
          <p:cNvPr id="12" name="Text 9"/>
          <p:cNvSpPr txBox="1"/>
          <p:nvPr/>
        </p:nvSpPr>
        <p:spPr>
          <a:xfrm>
            <a:off x="7863840" y="3063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0"/>
          <p:cNvSpPr txBox="1"/>
          <p:nvPr/>
        </p:nvSpPr>
        <p:spPr>
          <a:xfrm>
            <a:off x="8485632" y="3035808"/>
            <a:ext cx="3127248" cy="292608"/>
          </a:xfrm>
          <a:prstGeom prst="rect">
            <a:avLst/>
          </a:prstGeom>
          <a:noFill/>
          <a:ln/>
        </p:spPr>
        <p:txBody>
          <a:bodyPr wrap="square" lIns="0" tIns="0" rIns="0" bIns="0" rtlCol="0" anchor="ctr"/>
          <a:lstStyle/>
          <a:p>
            <a:pPr marL="0" indent="0">
              <a:buNone/>
            </a:pPr>
            <a:r>
              <a:rPr lang="en-US" sz="1350" b="1" dirty="0">
                <a:solidFill>
                  <a:srgbClr val="1B2430"/>
                </a:solidFill>
                <a:latin typeface="Calibri" pitchFamily="34" charset="0"/>
                <a:ea typeface="Calibri" pitchFamily="34" charset="-122"/>
                <a:cs typeface="Calibri" pitchFamily="34" charset="-120"/>
              </a:rPr>
              <a:t>14:25:58 — yeni hesap açıldı</a:t>
            </a:r>
            <a:endParaRPr lang="en-US" sz="1350" dirty="0"/>
          </a:p>
        </p:txBody>
      </p:sp>
      <p:sp>
        <p:nvSpPr>
          <p:cNvPr id="14" name="Text 11"/>
          <p:cNvSpPr txBox="1"/>
          <p:nvPr/>
        </p:nvSpPr>
        <p:spPr>
          <a:xfrm>
            <a:off x="8485632" y="3319272"/>
            <a:ext cx="3127248" cy="502920"/>
          </a:xfrm>
          <a:prstGeom prst="rect">
            <a:avLst/>
          </a:prstGeom>
          <a:noFill/>
          <a:ln/>
        </p:spPr>
        <p:txBody>
          <a:bodyPr wrap="square" lIns="0" tIns="0" rIns="0" bIns="0" rtlCol="0" anchor="t"/>
          <a:lstStyle/>
          <a:p>
            <a:pPr marL="0" indent="0">
              <a:lnSpc>
                <a:spcPct val="110000"/>
              </a:lnSpc>
              <a:buNone/>
            </a:pPr>
            <a:r>
              <a:rPr lang="en-US" sz="1150" dirty="0">
                <a:solidFill>
                  <a:srgbClr val="5B6472"/>
                </a:solidFill>
                <a:latin typeface="Calibri" pitchFamily="34" charset="0"/>
                <a:ea typeface="Calibri" pitchFamily="34" charset="-122"/>
                <a:cs typeface="Calibri" pitchFamily="34" charset="-120"/>
              </a:rPr>
              <a:t>sudo useradd -m -s /bin/bash svc-update: root yetkisiyle yeni kullanıcı.</a:t>
            </a:r>
            <a:endParaRPr lang="en-US" sz="1150" dirty="0"/>
          </a:p>
        </p:txBody>
      </p:sp>
      <p:sp>
        <p:nvSpPr>
          <p:cNvPr id="15" name="Shape 12"/>
          <p:cNvSpPr/>
          <p:nvPr/>
        </p:nvSpPr>
        <p:spPr>
          <a:xfrm>
            <a:off x="7863840" y="4297680"/>
            <a:ext cx="457200" cy="457200"/>
          </a:xfrm>
          <a:prstGeom prst="ellipse">
            <a:avLst/>
          </a:prstGeom>
          <a:solidFill>
            <a:srgbClr val="B32833"/>
          </a:solidFill>
          <a:ln w="12700">
            <a:solidFill>
              <a:srgbClr val="B32833"/>
            </a:solidFill>
            <a:prstDash val="solid"/>
          </a:ln>
        </p:spPr>
      </p:sp>
      <p:sp>
        <p:nvSpPr>
          <p:cNvPr id="16" name="Text 13"/>
          <p:cNvSpPr txBox="1"/>
          <p:nvPr/>
        </p:nvSpPr>
        <p:spPr>
          <a:xfrm>
            <a:off x="7863840" y="42976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4"/>
          <p:cNvSpPr txBox="1"/>
          <p:nvPr/>
        </p:nvSpPr>
        <p:spPr>
          <a:xfrm>
            <a:off x="8485632" y="4270248"/>
            <a:ext cx="3127248" cy="292608"/>
          </a:xfrm>
          <a:prstGeom prst="rect">
            <a:avLst/>
          </a:prstGeom>
          <a:noFill/>
          <a:ln/>
        </p:spPr>
        <p:txBody>
          <a:bodyPr wrap="square" lIns="0" tIns="0" rIns="0" bIns="0" rtlCol="0" anchor="ctr"/>
          <a:lstStyle/>
          <a:p>
            <a:pPr marL="0" indent="0">
              <a:buNone/>
            </a:pPr>
            <a:r>
              <a:rPr lang="en-US" sz="1350" b="1" dirty="0">
                <a:solidFill>
                  <a:srgbClr val="1B2430"/>
                </a:solidFill>
                <a:latin typeface="Calibri" pitchFamily="34" charset="0"/>
                <a:ea typeface="Calibri" pitchFamily="34" charset="-122"/>
                <a:cs typeface="Calibri" pitchFamily="34" charset="-120"/>
              </a:rPr>
              <a:t>14:26:01 — hesap aktif</a:t>
            </a:r>
            <a:endParaRPr lang="en-US" sz="1350" dirty="0"/>
          </a:p>
        </p:txBody>
      </p:sp>
      <p:sp>
        <p:nvSpPr>
          <p:cNvPr id="18" name="Text 15"/>
          <p:cNvSpPr txBox="1"/>
          <p:nvPr/>
        </p:nvSpPr>
        <p:spPr>
          <a:xfrm>
            <a:off x="8485632" y="4553712"/>
            <a:ext cx="3127248" cy="502920"/>
          </a:xfrm>
          <a:prstGeom prst="rect">
            <a:avLst/>
          </a:prstGeom>
          <a:noFill/>
          <a:ln/>
        </p:spPr>
        <p:txBody>
          <a:bodyPr wrap="square" lIns="0" tIns="0" rIns="0" bIns="0" rtlCol="0" anchor="t"/>
          <a:lstStyle/>
          <a:p>
            <a:pPr marL="0" indent="0">
              <a:lnSpc>
                <a:spcPct val="110000"/>
              </a:lnSpc>
              <a:buNone/>
            </a:pPr>
            <a:r>
              <a:rPr lang="en-US" sz="1150" dirty="0" smtClean="0">
                <a:solidFill>
                  <a:srgbClr val="5B6472"/>
                </a:solidFill>
                <a:latin typeface="Calibri" pitchFamily="34" charset="0"/>
                <a:ea typeface="Calibri" pitchFamily="34" charset="-122"/>
                <a:cs typeface="Calibri" pitchFamily="34" charset="-120"/>
              </a:rPr>
              <a:t>svc-update</a:t>
            </a:r>
            <a:r>
              <a:rPr lang="tr-TR" sz="1150" dirty="0" smtClean="0">
                <a:solidFill>
                  <a:srgbClr val="5B6472"/>
                </a:solidFill>
                <a:latin typeface="Calibri" pitchFamily="34" charset="0"/>
                <a:ea typeface="Calibri" pitchFamily="34" charset="-122"/>
                <a:cs typeface="Calibri" pitchFamily="34" charset="-120"/>
              </a:rPr>
              <a:t> </a:t>
            </a:r>
            <a:r>
              <a:rPr lang="en-US" sz="1150" dirty="0" err="1" smtClean="0">
                <a:solidFill>
                  <a:srgbClr val="5B6472"/>
                </a:solidFill>
                <a:latin typeface="Calibri" pitchFamily="34" charset="0"/>
                <a:ea typeface="Calibri" pitchFamily="34" charset="-122"/>
                <a:cs typeface="Calibri" pitchFamily="34" charset="-120"/>
              </a:rPr>
              <a:t>sistemde</a:t>
            </a:r>
            <a:r>
              <a:rPr lang="en-US" sz="1150" dirty="0" smtClean="0">
                <a:solidFill>
                  <a:srgbClr val="5B6472"/>
                </a:solidFill>
                <a:latin typeface="Calibri" pitchFamily="34" charset="0"/>
                <a:ea typeface="Calibri" pitchFamily="34" charset="-122"/>
                <a:cs typeface="Calibri" pitchFamily="34" charset="-120"/>
              </a:rPr>
              <a:t> </a:t>
            </a:r>
            <a:r>
              <a:rPr lang="en-US" sz="1150" dirty="0">
                <a:solidFill>
                  <a:srgbClr val="5B6472"/>
                </a:solidFill>
                <a:latin typeface="Calibri" pitchFamily="34" charset="0"/>
                <a:ea typeface="Calibri" pitchFamily="34" charset="-122"/>
                <a:cs typeface="Calibri" pitchFamily="34" charset="-120"/>
              </a:rPr>
              <a:t>oluşturuldu ve kullanılabilir hale geldi.</a:t>
            </a:r>
            <a:endParaRPr lang="en-US" sz="1150" dirty="0"/>
          </a:p>
        </p:txBody>
      </p:sp>
      <p:sp>
        <p:nvSpPr>
          <p:cNvPr id="19" name="Text 16"/>
          <p:cNvSpPr txBox="1"/>
          <p:nvPr/>
        </p:nvSpPr>
        <p:spPr>
          <a:xfrm>
            <a:off x="7863840" y="5349240"/>
            <a:ext cx="3749040" cy="45720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Girişten oluşuma kadar geçen süre: </a:t>
            </a:r>
            <a:r>
              <a:rPr lang="en-US" sz="1150" i="1" dirty="0" err="1">
                <a:solidFill>
                  <a:srgbClr val="5B6472"/>
                </a:solidFill>
                <a:latin typeface="Calibri" pitchFamily="34" charset="0"/>
                <a:ea typeface="Calibri" pitchFamily="34" charset="-122"/>
                <a:cs typeface="Calibri" pitchFamily="34" charset="-120"/>
              </a:rPr>
              <a:t>yalnızca</a:t>
            </a:r>
            <a:r>
              <a:rPr lang="en-US" sz="1150" i="1" dirty="0">
                <a:solidFill>
                  <a:srgbClr val="5B6472"/>
                </a:solidFill>
                <a:latin typeface="Calibri" pitchFamily="34" charset="0"/>
                <a:ea typeface="Calibri" pitchFamily="34" charset="-122"/>
                <a:cs typeface="Calibri" pitchFamily="34" charset="-120"/>
              </a:rPr>
              <a:t> </a:t>
            </a:r>
            <a:r>
              <a:rPr lang="tr-TR" sz="1150" i="1" dirty="0" smtClean="0">
                <a:solidFill>
                  <a:srgbClr val="5B6472"/>
                </a:solidFill>
                <a:latin typeface="Calibri" pitchFamily="34" charset="0"/>
                <a:ea typeface="Calibri" pitchFamily="34" charset="-122"/>
                <a:cs typeface="Calibri" pitchFamily="34" charset="-120"/>
              </a:rPr>
              <a:t>7-</a:t>
            </a:r>
            <a:r>
              <a:rPr lang="en-US" sz="1150" i="1" dirty="0" smtClean="0">
                <a:solidFill>
                  <a:srgbClr val="5B6472"/>
                </a:solidFill>
                <a:latin typeface="Calibri" pitchFamily="34" charset="0"/>
                <a:ea typeface="Calibri" pitchFamily="34" charset="-122"/>
                <a:cs typeface="Calibri" pitchFamily="34" charset="-120"/>
              </a:rPr>
              <a:t>8 </a:t>
            </a:r>
            <a:r>
              <a:rPr lang="en-US" sz="1150" i="1" dirty="0">
                <a:solidFill>
                  <a:srgbClr val="5B6472"/>
                </a:solidFill>
                <a:latin typeface="Calibri" pitchFamily="34" charset="0"/>
                <a:ea typeface="Calibri" pitchFamily="34" charset="-122"/>
                <a:cs typeface="Calibri" pitchFamily="34" charset="-120"/>
              </a:rPr>
              <a:t>saniye.</a:t>
            </a:r>
            <a:endParaRPr lang="en-US" sz="1150" dirty="0"/>
          </a:p>
        </p:txBody>
      </p:sp>
      <p:sp>
        <p:nvSpPr>
          <p:cNvPr id="21" name="Text 18"/>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SORU 7</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MITRE ATT&amp;CK Eşlemesi</a:t>
            </a:r>
            <a:endParaRPr lang="en-US" sz="3200" dirty="0"/>
          </a:p>
        </p:txBody>
      </p:sp>
      <p:sp>
        <p:nvSpPr>
          <p:cNvPr id="4" name="Shape 2"/>
          <p:cNvSpPr/>
          <p:nvPr/>
        </p:nvSpPr>
        <p:spPr>
          <a:xfrm>
            <a:off x="548640" y="1737360"/>
            <a:ext cx="5394960" cy="1874520"/>
          </a:xfrm>
          <a:prstGeom prst="roundRect">
            <a:avLst>
              <a:gd name="adj" fmla="val 3415"/>
            </a:avLst>
          </a:prstGeom>
          <a:solidFill>
            <a:srgbClr val="B32833"/>
          </a:solidFill>
          <a:ln w="12700">
            <a:solidFill>
              <a:srgbClr val="B32833"/>
            </a:solidFill>
            <a:prstDash val="solid"/>
          </a:ln>
        </p:spPr>
      </p:sp>
      <p:sp>
        <p:nvSpPr>
          <p:cNvPr id="5" name="Text 3"/>
          <p:cNvSpPr txBox="1"/>
          <p:nvPr/>
        </p:nvSpPr>
        <p:spPr>
          <a:xfrm>
            <a:off x="804672" y="1901952"/>
            <a:ext cx="4937760" cy="365760"/>
          </a:xfrm>
          <a:prstGeom prst="rect">
            <a:avLst/>
          </a:prstGeom>
          <a:noFill/>
          <a:ln/>
        </p:spPr>
        <p:txBody>
          <a:bodyPr wrap="square" lIns="0" tIns="0" rIns="0" bIns="0"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T1110.001</a:t>
            </a:r>
            <a:endParaRPr lang="en-US" sz="1500" dirty="0"/>
          </a:p>
        </p:txBody>
      </p:sp>
      <p:sp>
        <p:nvSpPr>
          <p:cNvPr id="6" name="Text 4"/>
          <p:cNvSpPr txBox="1"/>
          <p:nvPr/>
        </p:nvSpPr>
        <p:spPr>
          <a:xfrm>
            <a:off x="804672" y="2304288"/>
            <a:ext cx="488289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Brute Force: Password Guessing</a:t>
            </a:r>
            <a:endParaRPr lang="en-US" sz="1450" dirty="0"/>
          </a:p>
        </p:txBody>
      </p:sp>
      <p:sp>
        <p:nvSpPr>
          <p:cNvPr id="7" name="Text 5"/>
          <p:cNvSpPr txBox="1"/>
          <p:nvPr/>
        </p:nvSpPr>
        <p:spPr>
          <a:xfrm>
            <a:off x="804672" y="2761488"/>
            <a:ext cx="4882896" cy="731520"/>
          </a:xfrm>
          <a:prstGeom prst="rect">
            <a:avLst/>
          </a:prstGeom>
          <a:noFill/>
          <a:ln/>
        </p:spPr>
        <p:txBody>
          <a:bodyPr wrap="square" lIns="0" tIns="0" rIns="0" bIns="0" rtlCol="0" anchor="ctr"/>
          <a:lstStyle/>
          <a:p>
            <a:pPr marL="0" indent="0">
              <a:lnSpc>
                <a:spcPct val="125000"/>
              </a:lnSpc>
              <a:buNone/>
            </a:pPr>
            <a:r>
              <a:rPr lang="en-US" sz="1150" dirty="0">
                <a:solidFill>
                  <a:srgbClr val="FFE3E4"/>
                </a:solidFill>
                <a:latin typeface="Calibri" pitchFamily="34" charset="0"/>
                <a:ea typeface="Calibri" pitchFamily="34" charset="-122"/>
                <a:cs typeface="Calibri" pitchFamily="34" charset="-120"/>
              </a:rPr>
              <a:t>Birincil teknik. Tek IP'den, sistematik kullanıcı listesiyle 91 ardışık deneme.</a:t>
            </a:r>
            <a:endParaRPr lang="en-US" sz="1150" dirty="0"/>
          </a:p>
        </p:txBody>
      </p:sp>
      <p:sp>
        <p:nvSpPr>
          <p:cNvPr id="8" name="Shape 6"/>
          <p:cNvSpPr/>
          <p:nvPr/>
        </p:nvSpPr>
        <p:spPr>
          <a:xfrm>
            <a:off x="6217920" y="1737360"/>
            <a:ext cx="5394960" cy="1874520"/>
          </a:xfrm>
          <a:prstGeom prst="roundRect">
            <a:avLst>
              <a:gd name="adj" fmla="val 3415"/>
            </a:avLst>
          </a:prstGeom>
          <a:solidFill>
            <a:srgbClr val="FFFFFF"/>
          </a:solidFill>
          <a:ln w="12700">
            <a:solidFill>
              <a:srgbClr val="D9DFE6"/>
            </a:solidFill>
            <a:prstDash val="solid"/>
          </a:ln>
        </p:spPr>
      </p:sp>
      <p:sp>
        <p:nvSpPr>
          <p:cNvPr id="9" name="Text 7"/>
          <p:cNvSpPr txBox="1"/>
          <p:nvPr/>
        </p:nvSpPr>
        <p:spPr>
          <a:xfrm>
            <a:off x="6473952" y="1901952"/>
            <a:ext cx="4937760" cy="365760"/>
          </a:xfrm>
          <a:prstGeom prst="rect">
            <a:avLst/>
          </a:prstGeom>
          <a:noFill/>
          <a:ln/>
        </p:spPr>
        <p:txBody>
          <a:bodyPr wrap="square" lIns="0" tIns="0" rIns="0" bIns="0" rtlCol="0" anchor="ctr"/>
          <a:lstStyle/>
          <a:p>
            <a:pPr marL="0" indent="0">
              <a:buNone/>
            </a:pPr>
            <a:r>
              <a:rPr lang="en-US" sz="1500" b="1" dirty="0">
                <a:solidFill>
                  <a:srgbClr val="B32833"/>
                </a:solidFill>
                <a:latin typeface="Courier New" pitchFamily="34" charset="0"/>
                <a:ea typeface="Courier New" pitchFamily="34" charset="-122"/>
                <a:cs typeface="Courier New" pitchFamily="34" charset="-120"/>
              </a:rPr>
              <a:t>T1078</a:t>
            </a:r>
            <a:endParaRPr lang="en-US" sz="1500" dirty="0"/>
          </a:p>
        </p:txBody>
      </p:sp>
      <p:sp>
        <p:nvSpPr>
          <p:cNvPr id="10" name="Text 8"/>
          <p:cNvSpPr txBox="1"/>
          <p:nvPr/>
        </p:nvSpPr>
        <p:spPr>
          <a:xfrm>
            <a:off x="6473952" y="2304288"/>
            <a:ext cx="4882896" cy="457200"/>
          </a:xfrm>
          <a:prstGeom prst="rect">
            <a:avLst/>
          </a:prstGeom>
          <a:noFill/>
          <a:ln/>
        </p:spPr>
        <p:txBody>
          <a:bodyPr wrap="square" lIns="0" tIns="0" rIns="0" bIns="0" rtlCol="0" anchor="ctr"/>
          <a:lstStyle/>
          <a:p>
            <a:pPr marL="0" indent="0">
              <a:buNone/>
            </a:pPr>
            <a:r>
              <a:rPr lang="en-US" sz="1450" b="1" dirty="0">
                <a:solidFill>
                  <a:srgbClr val="1B2430"/>
                </a:solidFill>
                <a:latin typeface="Calibri" pitchFamily="34" charset="0"/>
                <a:ea typeface="Calibri" pitchFamily="34" charset="-122"/>
                <a:cs typeface="Calibri" pitchFamily="34" charset="-120"/>
              </a:rPr>
              <a:t>Valid Accounts</a:t>
            </a:r>
            <a:endParaRPr lang="en-US" sz="1450" dirty="0"/>
          </a:p>
        </p:txBody>
      </p:sp>
      <p:sp>
        <p:nvSpPr>
          <p:cNvPr id="11" name="Text 9"/>
          <p:cNvSpPr txBox="1"/>
          <p:nvPr/>
        </p:nvSpPr>
        <p:spPr>
          <a:xfrm>
            <a:off x="6473952" y="2761488"/>
            <a:ext cx="4882896" cy="731520"/>
          </a:xfrm>
          <a:prstGeom prst="rect">
            <a:avLst/>
          </a:prstGeom>
          <a:noFill/>
          <a:ln/>
        </p:spPr>
        <p:txBody>
          <a:bodyPr wrap="square" lIns="0" tIns="0" rIns="0" bIns="0"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Ele geçirilen deploy hesabı, meşru görünümlü erişim için kullanıldı.</a:t>
            </a:r>
            <a:endParaRPr lang="en-US" sz="1150" dirty="0"/>
          </a:p>
        </p:txBody>
      </p:sp>
      <p:sp>
        <p:nvSpPr>
          <p:cNvPr id="12" name="Shape 10"/>
          <p:cNvSpPr/>
          <p:nvPr/>
        </p:nvSpPr>
        <p:spPr>
          <a:xfrm>
            <a:off x="548640" y="3886200"/>
            <a:ext cx="5394960" cy="1874520"/>
          </a:xfrm>
          <a:prstGeom prst="roundRect">
            <a:avLst>
              <a:gd name="adj" fmla="val 3415"/>
            </a:avLst>
          </a:prstGeom>
          <a:solidFill>
            <a:srgbClr val="FFFFFF"/>
          </a:solidFill>
          <a:ln w="12700">
            <a:solidFill>
              <a:srgbClr val="D9DFE6"/>
            </a:solidFill>
            <a:prstDash val="solid"/>
          </a:ln>
        </p:spPr>
      </p:sp>
      <p:sp>
        <p:nvSpPr>
          <p:cNvPr id="13" name="Text 11"/>
          <p:cNvSpPr txBox="1"/>
          <p:nvPr/>
        </p:nvSpPr>
        <p:spPr>
          <a:xfrm>
            <a:off x="804672" y="4050792"/>
            <a:ext cx="4937760" cy="365760"/>
          </a:xfrm>
          <a:prstGeom prst="rect">
            <a:avLst/>
          </a:prstGeom>
          <a:noFill/>
          <a:ln/>
        </p:spPr>
        <p:txBody>
          <a:bodyPr wrap="square" lIns="0" tIns="0" rIns="0" bIns="0" rtlCol="0" anchor="ctr"/>
          <a:lstStyle/>
          <a:p>
            <a:pPr marL="0" indent="0">
              <a:buNone/>
            </a:pPr>
            <a:r>
              <a:rPr lang="en-US" sz="1500" b="1" dirty="0">
                <a:solidFill>
                  <a:srgbClr val="B32833"/>
                </a:solidFill>
                <a:latin typeface="Courier New" pitchFamily="34" charset="0"/>
                <a:ea typeface="Courier New" pitchFamily="34" charset="-122"/>
                <a:cs typeface="Courier New" pitchFamily="34" charset="-120"/>
              </a:rPr>
              <a:t>T1003.008</a:t>
            </a:r>
            <a:endParaRPr lang="en-US" sz="1500" dirty="0"/>
          </a:p>
        </p:txBody>
      </p:sp>
      <p:sp>
        <p:nvSpPr>
          <p:cNvPr id="14" name="Text 12"/>
          <p:cNvSpPr txBox="1"/>
          <p:nvPr/>
        </p:nvSpPr>
        <p:spPr>
          <a:xfrm>
            <a:off x="804672" y="4453128"/>
            <a:ext cx="4882896" cy="457200"/>
          </a:xfrm>
          <a:prstGeom prst="rect">
            <a:avLst/>
          </a:prstGeom>
          <a:noFill/>
          <a:ln/>
        </p:spPr>
        <p:txBody>
          <a:bodyPr wrap="square" lIns="0" tIns="0" rIns="0" bIns="0" rtlCol="0" anchor="ctr"/>
          <a:lstStyle/>
          <a:p>
            <a:pPr marL="0" indent="0">
              <a:buNone/>
            </a:pPr>
            <a:r>
              <a:rPr lang="en-US" sz="1450" b="1" dirty="0">
                <a:solidFill>
                  <a:srgbClr val="1B2430"/>
                </a:solidFill>
                <a:latin typeface="Calibri" pitchFamily="34" charset="0"/>
                <a:ea typeface="Calibri" pitchFamily="34" charset="-122"/>
                <a:cs typeface="Calibri" pitchFamily="34" charset="-120"/>
              </a:rPr>
              <a:t>OS Credential Dumping</a:t>
            </a:r>
            <a:endParaRPr lang="en-US" sz="1450" dirty="0"/>
          </a:p>
        </p:txBody>
      </p:sp>
      <p:sp>
        <p:nvSpPr>
          <p:cNvPr id="15" name="Text 13"/>
          <p:cNvSpPr txBox="1"/>
          <p:nvPr/>
        </p:nvSpPr>
        <p:spPr>
          <a:xfrm>
            <a:off x="804672" y="4910328"/>
            <a:ext cx="4882896" cy="731520"/>
          </a:xfrm>
          <a:prstGeom prst="rect">
            <a:avLst/>
          </a:prstGeom>
          <a:noFill/>
          <a:ln/>
        </p:spPr>
        <p:txBody>
          <a:bodyPr wrap="square" lIns="0" tIns="0" rIns="0" bIns="0"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/etc/passwd ve /etc/shadow — parola hash'lerine erişim denemesi.</a:t>
            </a:r>
            <a:endParaRPr lang="en-US" sz="1150" dirty="0"/>
          </a:p>
        </p:txBody>
      </p:sp>
      <p:sp>
        <p:nvSpPr>
          <p:cNvPr id="16" name="Shape 14"/>
          <p:cNvSpPr/>
          <p:nvPr/>
        </p:nvSpPr>
        <p:spPr>
          <a:xfrm>
            <a:off x="6217920" y="3886200"/>
            <a:ext cx="5394960" cy="1874520"/>
          </a:xfrm>
          <a:prstGeom prst="roundRect">
            <a:avLst>
              <a:gd name="adj" fmla="val 3415"/>
            </a:avLst>
          </a:prstGeom>
          <a:solidFill>
            <a:srgbClr val="FFFFFF"/>
          </a:solidFill>
          <a:ln w="12700">
            <a:solidFill>
              <a:srgbClr val="D9DFE6"/>
            </a:solidFill>
            <a:prstDash val="solid"/>
          </a:ln>
        </p:spPr>
      </p:sp>
      <p:sp>
        <p:nvSpPr>
          <p:cNvPr id="17" name="Text 15"/>
          <p:cNvSpPr txBox="1"/>
          <p:nvPr/>
        </p:nvSpPr>
        <p:spPr>
          <a:xfrm>
            <a:off x="6473952" y="4050792"/>
            <a:ext cx="4937760" cy="365760"/>
          </a:xfrm>
          <a:prstGeom prst="rect">
            <a:avLst/>
          </a:prstGeom>
          <a:noFill/>
          <a:ln/>
        </p:spPr>
        <p:txBody>
          <a:bodyPr wrap="square" lIns="0" tIns="0" rIns="0" bIns="0" rtlCol="0" anchor="ctr"/>
          <a:lstStyle/>
          <a:p>
            <a:pPr marL="0" indent="0">
              <a:buNone/>
            </a:pPr>
            <a:r>
              <a:rPr lang="en-US" sz="1500" b="1" dirty="0">
                <a:solidFill>
                  <a:srgbClr val="B32833"/>
                </a:solidFill>
                <a:latin typeface="Courier New" pitchFamily="34" charset="0"/>
                <a:ea typeface="Courier New" pitchFamily="34" charset="-122"/>
                <a:cs typeface="Courier New" pitchFamily="34" charset="-120"/>
              </a:rPr>
              <a:t>T1136.001</a:t>
            </a:r>
            <a:endParaRPr lang="en-US" sz="1500" dirty="0"/>
          </a:p>
        </p:txBody>
      </p:sp>
      <p:sp>
        <p:nvSpPr>
          <p:cNvPr id="18" name="Text 16"/>
          <p:cNvSpPr txBox="1"/>
          <p:nvPr/>
        </p:nvSpPr>
        <p:spPr>
          <a:xfrm>
            <a:off x="6473952" y="4453128"/>
            <a:ext cx="4882896" cy="457200"/>
          </a:xfrm>
          <a:prstGeom prst="rect">
            <a:avLst/>
          </a:prstGeom>
          <a:noFill/>
          <a:ln/>
        </p:spPr>
        <p:txBody>
          <a:bodyPr wrap="square" lIns="0" tIns="0" rIns="0" bIns="0" rtlCol="0" anchor="ctr"/>
          <a:lstStyle/>
          <a:p>
            <a:pPr marL="0" indent="0">
              <a:buNone/>
            </a:pPr>
            <a:r>
              <a:rPr lang="en-US" sz="1450" b="1" dirty="0">
                <a:solidFill>
                  <a:srgbClr val="1B2430"/>
                </a:solidFill>
                <a:latin typeface="Calibri" pitchFamily="34" charset="0"/>
                <a:ea typeface="Calibri" pitchFamily="34" charset="-122"/>
                <a:cs typeface="Calibri" pitchFamily="34" charset="-120"/>
              </a:rPr>
              <a:t>Create Account: Local Account</a:t>
            </a:r>
            <a:endParaRPr lang="en-US" sz="1450" dirty="0"/>
          </a:p>
        </p:txBody>
      </p:sp>
      <p:sp>
        <p:nvSpPr>
          <p:cNvPr id="19" name="Text 17"/>
          <p:cNvSpPr txBox="1"/>
          <p:nvPr/>
        </p:nvSpPr>
        <p:spPr>
          <a:xfrm>
            <a:off x="6473952" y="4910328"/>
            <a:ext cx="4882896" cy="731520"/>
          </a:xfrm>
          <a:prstGeom prst="rect">
            <a:avLst/>
          </a:prstGeom>
          <a:noFill/>
          <a:ln/>
        </p:spPr>
        <p:txBody>
          <a:bodyPr wrap="square" lIns="0" tIns="0" rIns="0" bIns="0"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svc-update hesabının oluşturulması — kalıcılık amaçlı.</a:t>
            </a:r>
            <a:endParaRPr lang="en-US" sz="1150" dirty="0"/>
          </a:p>
        </p:txBody>
      </p:sp>
      <p:sp>
        <p:nvSpPr>
          <p:cNvPr id="21" name="Text 19"/>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smtClean="0">
                <a:solidFill>
                  <a:srgbClr val="E63946"/>
                </a:solidFill>
                <a:latin typeface="Calibri" pitchFamily="34" charset="0"/>
                <a:ea typeface="Calibri" pitchFamily="34" charset="-122"/>
                <a:cs typeface="Calibri" pitchFamily="34" charset="-120"/>
              </a:rPr>
              <a:t>ETK</a:t>
            </a:r>
            <a:r>
              <a:rPr lang="tr-TR" sz="1200" b="1" kern="0" spc="200" dirty="0" smtClean="0">
                <a:solidFill>
                  <a:srgbClr val="E63946"/>
                </a:solidFill>
                <a:latin typeface="Calibri" pitchFamily="34" charset="0"/>
                <a:ea typeface="Calibri" pitchFamily="34" charset="-122"/>
                <a:cs typeface="Calibri" pitchFamily="34" charset="-120"/>
              </a:rPr>
              <a:t>i</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Bulgu değil, gerçekleşmiş bir ihlal</a:t>
            </a:r>
            <a:endParaRPr lang="en-US" sz="3200" dirty="0"/>
          </a:p>
        </p:txBody>
      </p:sp>
      <p:sp>
        <p:nvSpPr>
          <p:cNvPr id="4" name="Text 2"/>
          <p:cNvSpPr txBox="1"/>
          <p:nvPr/>
        </p:nvSpPr>
        <p:spPr>
          <a:xfrm>
            <a:off x="548640" y="1600200"/>
            <a:ext cx="10698480" cy="594360"/>
          </a:xfrm>
          <a:prstGeom prst="rect">
            <a:avLst/>
          </a:prstGeom>
          <a:noFill/>
          <a:ln/>
        </p:spPr>
        <p:txBody>
          <a:bodyPr wrap="square" lIns="0" tIns="0" rIns="0" bIns="0" rtlCol="0" anchor="ctr"/>
          <a:lstStyle/>
          <a:p>
            <a:pPr marL="0" indent="0">
              <a:lnSpc>
                <a:spcPct val="130000"/>
              </a:lnSpc>
              <a:buNone/>
            </a:pPr>
            <a:r>
              <a:rPr lang="en-US" sz="1400" i="1" dirty="0">
                <a:solidFill>
                  <a:srgbClr val="5B6472"/>
                </a:solidFill>
                <a:latin typeface="Calibri" pitchFamily="34" charset="0"/>
                <a:ea typeface="Calibri" pitchFamily="34" charset="-122"/>
                <a:cs typeface="Calibri" pitchFamily="34" charset="-120"/>
              </a:rPr>
              <a:t>“91 başarısız giriş var” bir bulgudur. Bunun bir hesabın ele geçirilmesi, kimlik bilgisi erişimi ve kalıcılıkla sonuçlanmış olması ise bir etki değerlendirmesidir.</a:t>
            </a:r>
            <a:endParaRPr lang="en-US" sz="1400" dirty="0"/>
          </a:p>
        </p:txBody>
      </p:sp>
      <p:sp>
        <p:nvSpPr>
          <p:cNvPr id="5" name="Shape 3"/>
          <p:cNvSpPr/>
          <p:nvPr/>
        </p:nvSpPr>
        <p:spPr>
          <a:xfrm>
            <a:off x="548640" y="2514600"/>
            <a:ext cx="457200" cy="457200"/>
          </a:xfrm>
          <a:prstGeom prst="ellipse">
            <a:avLst/>
          </a:prstGeom>
          <a:solidFill>
            <a:srgbClr val="B32833"/>
          </a:solidFill>
          <a:ln w="12700">
            <a:solidFill>
              <a:srgbClr val="B32833"/>
            </a:solidFill>
            <a:prstDash val="solid"/>
          </a:ln>
        </p:spPr>
      </p:sp>
      <p:sp>
        <p:nvSpPr>
          <p:cNvPr id="6" name="Text 4"/>
          <p:cNvSpPr txBox="1"/>
          <p:nvPr/>
        </p:nvSpPr>
        <p:spPr>
          <a:xfrm>
            <a:off x="548640" y="2514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txBox="1"/>
          <p:nvPr/>
        </p:nvSpPr>
        <p:spPr>
          <a:xfrm>
            <a:off x="1170432" y="2487168"/>
            <a:ext cx="4727448" cy="292608"/>
          </a:xfrm>
          <a:prstGeom prst="rect">
            <a:avLst/>
          </a:prstGeom>
          <a:noFill/>
          <a:ln/>
        </p:spPr>
        <p:txBody>
          <a:bodyPr wrap="square" lIns="0" tIns="0" rIns="0" bIns="0" rtlCol="0" anchor="ctr"/>
          <a:lstStyle/>
          <a:p>
            <a:pPr marL="0" indent="0">
              <a:buNone/>
            </a:pPr>
            <a:r>
              <a:rPr lang="en-US" sz="1350" b="1" dirty="0">
                <a:solidFill>
                  <a:srgbClr val="1B2430"/>
                </a:solidFill>
                <a:latin typeface="Calibri" pitchFamily="34" charset="0"/>
                <a:ea typeface="Calibri" pitchFamily="34" charset="-122"/>
                <a:cs typeface="Calibri" pitchFamily="34" charset="-120"/>
              </a:rPr>
              <a:t>Hesap ele geçirme (doğrulandı)</a:t>
            </a:r>
            <a:endParaRPr lang="en-US" sz="1350" dirty="0"/>
          </a:p>
        </p:txBody>
      </p:sp>
      <p:sp>
        <p:nvSpPr>
          <p:cNvPr id="8" name="Text 6"/>
          <p:cNvSpPr txBox="1"/>
          <p:nvPr/>
        </p:nvSpPr>
        <p:spPr>
          <a:xfrm>
            <a:off x="1170432" y="2770632"/>
            <a:ext cx="4727448" cy="502920"/>
          </a:xfrm>
          <a:prstGeom prst="rect">
            <a:avLst/>
          </a:prstGeom>
          <a:noFill/>
          <a:ln/>
        </p:spPr>
        <p:txBody>
          <a:bodyPr wrap="square" lIns="0" tIns="0" rIns="0" bIns="0" rtlCol="0" anchor="t"/>
          <a:lstStyle/>
          <a:p>
            <a:pPr marL="0" indent="0">
              <a:lnSpc>
                <a:spcPct val="110000"/>
              </a:lnSpc>
              <a:buNone/>
            </a:pPr>
            <a:r>
              <a:rPr lang="en-US" sz="1150" dirty="0">
                <a:solidFill>
                  <a:srgbClr val="5B6472"/>
                </a:solidFill>
                <a:latin typeface="Calibri" pitchFamily="34" charset="0"/>
                <a:ea typeface="Calibri" pitchFamily="34" charset="-122"/>
                <a:cs typeface="Calibri" pitchFamily="34" charset="-120"/>
              </a:rPr>
              <a:t>deploy hesabı ve sahip olduğu sudo yetkileri saldırganın kontrolüne geçti.</a:t>
            </a:r>
            <a:endParaRPr lang="en-US" sz="1150" dirty="0"/>
          </a:p>
        </p:txBody>
      </p:sp>
      <p:sp>
        <p:nvSpPr>
          <p:cNvPr id="9" name="Shape 7"/>
          <p:cNvSpPr/>
          <p:nvPr/>
        </p:nvSpPr>
        <p:spPr>
          <a:xfrm>
            <a:off x="6172200" y="2514600"/>
            <a:ext cx="457200" cy="457200"/>
          </a:xfrm>
          <a:prstGeom prst="ellipse">
            <a:avLst/>
          </a:prstGeom>
          <a:solidFill>
            <a:srgbClr val="B32833"/>
          </a:solidFill>
          <a:ln w="12700">
            <a:solidFill>
              <a:srgbClr val="B32833"/>
            </a:solidFill>
            <a:prstDash val="solid"/>
          </a:ln>
        </p:spPr>
      </p:sp>
      <p:sp>
        <p:nvSpPr>
          <p:cNvPr id="10" name="Text 8"/>
          <p:cNvSpPr txBox="1"/>
          <p:nvPr/>
        </p:nvSpPr>
        <p:spPr>
          <a:xfrm>
            <a:off x="6172200" y="2514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6793992" y="2487168"/>
            <a:ext cx="4727448" cy="292608"/>
          </a:xfrm>
          <a:prstGeom prst="rect">
            <a:avLst/>
          </a:prstGeom>
          <a:noFill/>
          <a:ln/>
        </p:spPr>
        <p:txBody>
          <a:bodyPr wrap="square" lIns="0" tIns="0" rIns="0" bIns="0" rtlCol="0" anchor="ctr"/>
          <a:lstStyle/>
          <a:p>
            <a:pPr marL="0" indent="0">
              <a:buNone/>
            </a:pPr>
            <a:r>
              <a:rPr lang="en-US" sz="1350" b="1" dirty="0">
                <a:solidFill>
                  <a:srgbClr val="1B2430"/>
                </a:solidFill>
                <a:latin typeface="Calibri" pitchFamily="34" charset="0"/>
                <a:ea typeface="Calibri" pitchFamily="34" charset="-122"/>
                <a:cs typeface="Calibri" pitchFamily="34" charset="-120"/>
              </a:rPr>
              <a:t>Kimlik bilgisi ifşası riski</a:t>
            </a:r>
            <a:endParaRPr lang="en-US" sz="1350" dirty="0"/>
          </a:p>
        </p:txBody>
      </p:sp>
      <p:sp>
        <p:nvSpPr>
          <p:cNvPr id="12" name="Text 10"/>
          <p:cNvSpPr txBox="1"/>
          <p:nvPr/>
        </p:nvSpPr>
        <p:spPr>
          <a:xfrm>
            <a:off x="6793992" y="2770632"/>
            <a:ext cx="4727448" cy="502920"/>
          </a:xfrm>
          <a:prstGeom prst="rect">
            <a:avLst/>
          </a:prstGeom>
          <a:noFill/>
          <a:ln/>
        </p:spPr>
        <p:txBody>
          <a:bodyPr wrap="square" lIns="0" tIns="0" rIns="0" bIns="0" rtlCol="0" anchor="t"/>
          <a:lstStyle/>
          <a:p>
            <a:pPr marL="0" indent="0">
              <a:lnSpc>
                <a:spcPct val="110000"/>
              </a:lnSpc>
              <a:buNone/>
            </a:pPr>
            <a:r>
              <a:rPr lang="en-US" sz="1150" dirty="0">
                <a:solidFill>
                  <a:srgbClr val="5B6472"/>
                </a:solidFill>
                <a:latin typeface="Calibri" pitchFamily="34" charset="0"/>
                <a:ea typeface="Calibri" pitchFamily="34" charset="-122"/>
                <a:cs typeface="Calibri" pitchFamily="34" charset="-120"/>
              </a:rPr>
              <a:t>/etc/shadow okundu — diğer hesapların (root dahil) parola hash'leri offline kırılabilir.</a:t>
            </a:r>
            <a:endParaRPr lang="en-US" sz="1150" dirty="0"/>
          </a:p>
        </p:txBody>
      </p:sp>
      <p:sp>
        <p:nvSpPr>
          <p:cNvPr id="13" name="Shape 11"/>
          <p:cNvSpPr/>
          <p:nvPr/>
        </p:nvSpPr>
        <p:spPr>
          <a:xfrm>
            <a:off x="548640" y="4114800"/>
            <a:ext cx="457200" cy="457200"/>
          </a:xfrm>
          <a:prstGeom prst="ellipse">
            <a:avLst/>
          </a:prstGeom>
          <a:solidFill>
            <a:srgbClr val="B32833"/>
          </a:solidFill>
          <a:ln w="12700">
            <a:solidFill>
              <a:srgbClr val="B32833"/>
            </a:solidFill>
            <a:prstDash val="solid"/>
          </a:ln>
        </p:spPr>
      </p:sp>
      <p:sp>
        <p:nvSpPr>
          <p:cNvPr id="14" name="Text 12"/>
          <p:cNvSpPr txBox="1"/>
          <p:nvPr/>
        </p:nvSpPr>
        <p:spPr>
          <a:xfrm>
            <a:off x="548640" y="4114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txBox="1"/>
          <p:nvPr/>
        </p:nvSpPr>
        <p:spPr>
          <a:xfrm>
            <a:off x="1170432" y="4087368"/>
            <a:ext cx="4727448" cy="292608"/>
          </a:xfrm>
          <a:prstGeom prst="rect">
            <a:avLst/>
          </a:prstGeom>
          <a:noFill/>
          <a:ln/>
        </p:spPr>
        <p:txBody>
          <a:bodyPr wrap="square" lIns="0" tIns="0" rIns="0" bIns="0" rtlCol="0" anchor="ctr"/>
          <a:lstStyle/>
          <a:p>
            <a:pPr marL="0" indent="0">
              <a:buNone/>
            </a:pPr>
            <a:r>
              <a:rPr lang="en-US" sz="1350" b="1" dirty="0">
                <a:solidFill>
                  <a:srgbClr val="1B2430"/>
                </a:solidFill>
                <a:latin typeface="Calibri" pitchFamily="34" charset="0"/>
                <a:ea typeface="Calibri" pitchFamily="34" charset="-122"/>
                <a:cs typeface="Calibri" pitchFamily="34" charset="-120"/>
              </a:rPr>
              <a:t>Kalıcı arka kapı riski</a:t>
            </a:r>
            <a:endParaRPr lang="en-US" sz="1350" dirty="0"/>
          </a:p>
        </p:txBody>
      </p:sp>
      <p:sp>
        <p:nvSpPr>
          <p:cNvPr id="16" name="Text 14"/>
          <p:cNvSpPr txBox="1"/>
          <p:nvPr/>
        </p:nvSpPr>
        <p:spPr>
          <a:xfrm>
            <a:off x="1170432" y="4370832"/>
            <a:ext cx="4727448" cy="502920"/>
          </a:xfrm>
          <a:prstGeom prst="rect">
            <a:avLst/>
          </a:prstGeom>
          <a:noFill/>
          <a:ln/>
        </p:spPr>
        <p:txBody>
          <a:bodyPr wrap="square" lIns="0" tIns="0" rIns="0" bIns="0" rtlCol="0" anchor="t"/>
          <a:lstStyle/>
          <a:p>
            <a:pPr marL="0" indent="0">
              <a:lnSpc>
                <a:spcPct val="110000"/>
              </a:lnSpc>
              <a:buNone/>
            </a:pPr>
            <a:r>
              <a:rPr lang="en-US" sz="1150" dirty="0">
                <a:solidFill>
                  <a:srgbClr val="5B6472"/>
                </a:solidFill>
                <a:latin typeface="Calibri" pitchFamily="34" charset="0"/>
                <a:ea typeface="Calibri" pitchFamily="34" charset="-122"/>
                <a:cs typeface="Calibri" pitchFamily="34" charset="-120"/>
              </a:rPr>
              <a:t>svc-update, ilk giriş kapatılsa bile erişimi sürdürecek şekilde tasarlanmış olabilir.</a:t>
            </a:r>
            <a:endParaRPr lang="en-US" sz="1150" dirty="0"/>
          </a:p>
        </p:txBody>
      </p:sp>
      <p:sp>
        <p:nvSpPr>
          <p:cNvPr id="17" name="Shape 15"/>
          <p:cNvSpPr/>
          <p:nvPr/>
        </p:nvSpPr>
        <p:spPr>
          <a:xfrm>
            <a:off x="6172200" y="4114800"/>
            <a:ext cx="457200" cy="457200"/>
          </a:xfrm>
          <a:prstGeom prst="ellipse">
            <a:avLst/>
          </a:prstGeom>
          <a:solidFill>
            <a:srgbClr val="B32833"/>
          </a:solidFill>
          <a:ln w="12700">
            <a:solidFill>
              <a:srgbClr val="B32833"/>
            </a:solidFill>
            <a:prstDash val="solid"/>
          </a:ln>
        </p:spPr>
      </p:sp>
      <p:sp>
        <p:nvSpPr>
          <p:cNvPr id="18" name="Text 16"/>
          <p:cNvSpPr txBox="1"/>
          <p:nvPr/>
        </p:nvSpPr>
        <p:spPr>
          <a:xfrm>
            <a:off x="6172200" y="41148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txBox="1"/>
          <p:nvPr/>
        </p:nvSpPr>
        <p:spPr>
          <a:xfrm>
            <a:off x="6793992" y="4087368"/>
            <a:ext cx="4727448" cy="292608"/>
          </a:xfrm>
          <a:prstGeom prst="rect">
            <a:avLst/>
          </a:prstGeom>
          <a:noFill/>
          <a:ln/>
        </p:spPr>
        <p:txBody>
          <a:bodyPr wrap="square" lIns="0" tIns="0" rIns="0" bIns="0" rtlCol="0" anchor="ctr"/>
          <a:lstStyle/>
          <a:p>
            <a:pPr marL="0" indent="0">
              <a:buNone/>
            </a:pPr>
            <a:r>
              <a:rPr lang="en-US" sz="1350" b="1" dirty="0">
                <a:solidFill>
                  <a:srgbClr val="1B2430"/>
                </a:solidFill>
                <a:latin typeface="Calibri" pitchFamily="34" charset="0"/>
                <a:ea typeface="Calibri" pitchFamily="34" charset="-122"/>
                <a:cs typeface="Calibri" pitchFamily="34" charset="-120"/>
              </a:rPr>
              <a:t>Yanal hareket riski</a:t>
            </a:r>
            <a:endParaRPr lang="en-US" sz="1350" dirty="0"/>
          </a:p>
        </p:txBody>
      </p:sp>
      <p:sp>
        <p:nvSpPr>
          <p:cNvPr id="20" name="Text 18"/>
          <p:cNvSpPr txBox="1"/>
          <p:nvPr/>
        </p:nvSpPr>
        <p:spPr>
          <a:xfrm>
            <a:off x="6793992" y="4370832"/>
            <a:ext cx="4727448" cy="502920"/>
          </a:xfrm>
          <a:prstGeom prst="rect">
            <a:avLst/>
          </a:prstGeom>
          <a:noFill/>
          <a:ln/>
        </p:spPr>
        <p:txBody>
          <a:bodyPr wrap="square" lIns="0" tIns="0" rIns="0" bIns="0" rtlCol="0" anchor="t"/>
          <a:lstStyle/>
          <a:p>
            <a:pPr marL="0" indent="0">
              <a:lnSpc>
                <a:spcPct val="110000"/>
              </a:lnSpc>
              <a:buNone/>
            </a:pPr>
            <a:r>
              <a:rPr lang="en-US" sz="1150" dirty="0">
                <a:solidFill>
                  <a:srgbClr val="5B6472"/>
                </a:solidFill>
                <a:latin typeface="Calibri" pitchFamily="34" charset="0"/>
                <a:ea typeface="Calibri" pitchFamily="34" charset="-122"/>
                <a:cs typeface="Calibri" pitchFamily="34" charset="-120"/>
              </a:rPr>
              <a:t>web01 iç ağa bağlı; diğer sistemlere sıçrama denemesi yapılmış olabilir.</a:t>
            </a:r>
            <a:endParaRPr lang="en-US" sz="1150" dirty="0"/>
          </a:p>
        </p:txBody>
      </p:sp>
      <p:sp>
        <p:nvSpPr>
          <p:cNvPr id="22" name="Text 20"/>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ÖNERILER</a:t>
            </a:r>
            <a:endParaRPr lang="en-US" sz="1200" dirty="0"/>
          </a:p>
        </p:txBody>
      </p:sp>
      <p:sp>
        <p:nvSpPr>
          <p:cNvPr id="3" name="Text 1"/>
          <p:cNvSpPr txBox="1"/>
          <p:nvPr/>
        </p:nvSpPr>
        <p:spPr>
          <a:xfrm>
            <a:off x="548640" y="594360"/>
            <a:ext cx="10515600" cy="731520"/>
          </a:xfrm>
          <a:prstGeom prst="rect">
            <a:avLst/>
          </a:prstGeom>
          <a:noFill/>
          <a:ln/>
        </p:spPr>
        <p:txBody>
          <a:bodyPr wrap="square" lIns="0" tIns="0" rIns="0" bIns="0" rtlCol="0" anchor="ctr"/>
          <a:lstStyle/>
          <a:p>
            <a:pPr marL="0" indent="0">
              <a:buNone/>
            </a:pPr>
            <a:r>
              <a:rPr lang="en-US" sz="3200" b="1" dirty="0">
                <a:solidFill>
                  <a:srgbClr val="1B2430"/>
                </a:solidFill>
                <a:latin typeface="Cambria" pitchFamily="34" charset="0"/>
                <a:ea typeface="Cambria" pitchFamily="34" charset="-122"/>
                <a:cs typeface="Cambria" pitchFamily="34" charset="-120"/>
              </a:rPr>
              <a:t>Ne yapılmalı?</a:t>
            </a:r>
            <a:endParaRPr lang="en-US" sz="3200" dirty="0"/>
          </a:p>
        </p:txBody>
      </p:sp>
      <p:sp>
        <p:nvSpPr>
          <p:cNvPr id="4" name="Shape 2"/>
          <p:cNvSpPr/>
          <p:nvPr/>
        </p:nvSpPr>
        <p:spPr>
          <a:xfrm>
            <a:off x="548640" y="1691640"/>
            <a:ext cx="5349240" cy="4206240"/>
          </a:xfrm>
          <a:prstGeom prst="roundRect">
            <a:avLst>
              <a:gd name="adj" fmla="val 1522"/>
            </a:avLst>
          </a:prstGeom>
          <a:solidFill>
            <a:srgbClr val="10151F"/>
          </a:solidFill>
          <a:ln w="12700">
            <a:solidFill>
              <a:srgbClr val="10151F"/>
            </a:solidFill>
            <a:prstDash val="solid"/>
          </a:ln>
        </p:spPr>
      </p:sp>
      <p:sp>
        <p:nvSpPr>
          <p:cNvPr id="5" name="Text 3"/>
          <p:cNvSpPr txBox="1"/>
          <p:nvPr/>
        </p:nvSpPr>
        <p:spPr>
          <a:xfrm>
            <a:off x="822960" y="1920240"/>
            <a:ext cx="4754880" cy="320040"/>
          </a:xfrm>
          <a:prstGeom prst="rect">
            <a:avLst/>
          </a:prstGeom>
          <a:noFill/>
          <a:ln/>
        </p:spPr>
        <p:txBody>
          <a:bodyPr wrap="square" lIns="0" tIns="0" rIns="0" bIns="0" rtlCol="0" anchor="ctr"/>
          <a:lstStyle/>
          <a:p>
            <a:pPr marL="0" indent="0">
              <a:buNone/>
            </a:pPr>
            <a:r>
              <a:rPr lang="en-US" sz="1300" b="1" kern="0" spc="150" dirty="0" smtClean="0">
                <a:solidFill>
                  <a:srgbClr val="E63946"/>
                </a:solidFill>
                <a:latin typeface="Calibri" pitchFamily="34" charset="0"/>
                <a:ea typeface="Calibri" pitchFamily="34" charset="-122"/>
                <a:cs typeface="Calibri" pitchFamily="34" charset="-120"/>
              </a:rPr>
              <a:t>ACİL</a:t>
            </a:r>
            <a:endParaRPr lang="en-US" sz="1300" dirty="0"/>
          </a:p>
        </p:txBody>
      </p:sp>
      <p:sp>
        <p:nvSpPr>
          <p:cNvPr id="6" name="Text 4"/>
          <p:cNvSpPr txBox="1"/>
          <p:nvPr/>
        </p:nvSpPr>
        <p:spPr>
          <a:xfrm>
            <a:off x="822960" y="2331720"/>
            <a:ext cx="4754880" cy="3383280"/>
          </a:xfrm>
          <a:prstGeom prst="rect">
            <a:avLst/>
          </a:prstGeom>
          <a:noFill/>
          <a:ln/>
        </p:spPr>
        <p:txBody>
          <a:bodyPr wrap="square" lIns="0" tIns="0" rIns="0" bIns="0" rtlCol="0" anchor="ctr"/>
          <a:lstStyle/>
          <a:p>
            <a:pPr marL="342900" indent="-342900">
              <a:lnSpc>
                <a:spcPct val="130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deploy hesabının parolasını değiştir; mümkünse anahtar tabanlı kimlik doğrulamaya geç.
svc-update hesabını sil; başka izinsiz hesap/cron/SSH key olup olmadığını kontrol et.
203.0.113.66 IP'sini güvenlik duvarında kalıcı olarak engelle.</a:t>
            </a:r>
            <a:endParaRPr lang="en-US" sz="1400" dirty="0"/>
          </a:p>
        </p:txBody>
      </p:sp>
      <p:sp>
        <p:nvSpPr>
          <p:cNvPr id="7" name="Shape 5"/>
          <p:cNvSpPr/>
          <p:nvPr/>
        </p:nvSpPr>
        <p:spPr>
          <a:xfrm>
            <a:off x="6172200" y="1691640"/>
            <a:ext cx="5349240" cy="4206240"/>
          </a:xfrm>
          <a:prstGeom prst="roundRect">
            <a:avLst>
              <a:gd name="adj" fmla="val 1522"/>
            </a:avLst>
          </a:prstGeom>
          <a:solidFill>
            <a:srgbClr val="FFFFFF"/>
          </a:solidFill>
          <a:ln w="12700">
            <a:solidFill>
              <a:srgbClr val="D9DFE6"/>
            </a:solidFill>
            <a:prstDash val="solid"/>
          </a:ln>
        </p:spPr>
      </p:sp>
      <p:sp>
        <p:nvSpPr>
          <p:cNvPr id="8" name="Text 6"/>
          <p:cNvSpPr txBox="1"/>
          <p:nvPr/>
        </p:nvSpPr>
        <p:spPr>
          <a:xfrm>
            <a:off x="6446520" y="1920240"/>
            <a:ext cx="4754880" cy="320040"/>
          </a:xfrm>
          <a:prstGeom prst="rect">
            <a:avLst/>
          </a:prstGeom>
          <a:noFill/>
          <a:ln/>
        </p:spPr>
        <p:txBody>
          <a:bodyPr wrap="square" lIns="0" tIns="0" rIns="0" bIns="0" rtlCol="0" anchor="ctr"/>
          <a:lstStyle/>
          <a:p>
            <a:pPr marL="0" indent="0">
              <a:buNone/>
            </a:pPr>
            <a:r>
              <a:rPr lang="en-US" sz="1300" b="1" kern="0" spc="150" dirty="0" smtClean="0">
                <a:solidFill>
                  <a:srgbClr val="26344A"/>
                </a:solidFill>
                <a:latin typeface="Calibri" pitchFamily="34" charset="0"/>
                <a:ea typeface="Calibri" pitchFamily="34" charset="-122"/>
                <a:cs typeface="Calibri" pitchFamily="34" charset="-120"/>
              </a:rPr>
              <a:t>KALICI</a:t>
            </a:r>
            <a:endParaRPr lang="en-US" sz="1300" dirty="0"/>
          </a:p>
        </p:txBody>
      </p:sp>
      <p:sp>
        <p:nvSpPr>
          <p:cNvPr id="9" name="Text 7"/>
          <p:cNvSpPr txBox="1"/>
          <p:nvPr/>
        </p:nvSpPr>
        <p:spPr>
          <a:xfrm>
            <a:off x="6446520" y="2331720"/>
            <a:ext cx="4754880" cy="3383280"/>
          </a:xfrm>
          <a:prstGeom prst="rect">
            <a:avLst/>
          </a:prstGeom>
          <a:noFill/>
          <a:ln/>
        </p:spPr>
        <p:txBody>
          <a:bodyPr wrap="square" lIns="0" tIns="0" rIns="0" bIns="0" rtlCol="0" anchor="ctr"/>
          <a:lstStyle/>
          <a:p>
            <a:pPr marL="342900" indent="-342900">
              <a:lnSpc>
                <a:spcPct val="130000"/>
              </a:lnSpc>
              <a:spcAft>
                <a:spcPts val="1600"/>
              </a:spcAft>
              <a:buSzPct val="100000"/>
              <a:buChar char="•"/>
            </a:pPr>
            <a:r>
              <a:rPr lang="en-US" sz="1400" dirty="0">
                <a:solidFill>
                  <a:srgbClr val="1B2430"/>
                </a:solidFill>
                <a:latin typeface="Calibri" pitchFamily="34" charset="0"/>
                <a:ea typeface="Calibri" pitchFamily="34" charset="-122"/>
                <a:cs typeface="Calibri" pitchFamily="34" charset="-120"/>
              </a:rPr>
              <a:t>SSH erişimini yalnızca iç ağ IP aralığıyla sınırla; bu açığın nasıl oluştuğunu araştır.
Ardışık başarısız denemede otomatik engelleme kur (fail2ban / rate-limiting).
SSH için MFA veya bastion/jump host erişimini zorunlu kıl.</a:t>
            </a:r>
            <a:endParaRPr lang="en-US" sz="1400" dirty="0"/>
          </a:p>
        </p:txBody>
      </p:sp>
      <p:sp>
        <p:nvSpPr>
          <p:cNvPr id="11" name="Text 9"/>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51F"/>
        </a:solidFill>
        <a:effectLst/>
      </p:bgPr>
    </p:bg>
    <p:spTree>
      <p:nvGrpSpPr>
        <p:cNvPr id="1" name=""/>
        <p:cNvGrpSpPr/>
        <p:nvPr/>
      </p:nvGrpSpPr>
      <p:grpSpPr>
        <a:xfrm>
          <a:off x="0" y="0"/>
          <a:ext cx="0" cy="0"/>
          <a:chOff x="0" y="0"/>
          <a:chExt cx="0" cy="0"/>
        </a:xfrm>
      </p:grpSpPr>
      <p:sp>
        <p:nvSpPr>
          <p:cNvPr id="2" name="Shape 0"/>
          <p:cNvSpPr/>
          <p:nvPr/>
        </p:nvSpPr>
        <p:spPr>
          <a:xfrm>
            <a:off x="640080" y="5212080"/>
            <a:ext cx="41148" cy="41148"/>
          </a:xfrm>
          <a:prstGeom prst="ellipse">
            <a:avLst/>
          </a:prstGeom>
          <a:solidFill>
            <a:srgbClr val="202A3A"/>
          </a:solidFill>
          <a:ln w="12700">
            <a:solidFill>
              <a:srgbClr val="202A3A"/>
            </a:solidFill>
            <a:prstDash val="solid"/>
          </a:ln>
        </p:spPr>
      </p:sp>
      <p:sp>
        <p:nvSpPr>
          <p:cNvPr id="3" name="Shape 1"/>
          <p:cNvSpPr/>
          <p:nvPr/>
        </p:nvSpPr>
        <p:spPr>
          <a:xfrm>
            <a:off x="777240" y="5212080"/>
            <a:ext cx="41148" cy="41148"/>
          </a:xfrm>
          <a:prstGeom prst="ellipse">
            <a:avLst/>
          </a:prstGeom>
          <a:solidFill>
            <a:srgbClr val="202A3A"/>
          </a:solidFill>
          <a:ln w="12700">
            <a:solidFill>
              <a:srgbClr val="202A3A"/>
            </a:solidFill>
            <a:prstDash val="solid"/>
          </a:ln>
        </p:spPr>
      </p:sp>
      <p:sp>
        <p:nvSpPr>
          <p:cNvPr id="4" name="Shape 2"/>
          <p:cNvSpPr/>
          <p:nvPr/>
        </p:nvSpPr>
        <p:spPr>
          <a:xfrm>
            <a:off x="914400" y="5212080"/>
            <a:ext cx="41148" cy="41148"/>
          </a:xfrm>
          <a:prstGeom prst="ellipse">
            <a:avLst/>
          </a:prstGeom>
          <a:solidFill>
            <a:srgbClr val="202A3A"/>
          </a:solidFill>
          <a:ln w="12700">
            <a:solidFill>
              <a:srgbClr val="202A3A"/>
            </a:solidFill>
            <a:prstDash val="solid"/>
          </a:ln>
        </p:spPr>
      </p:sp>
      <p:sp>
        <p:nvSpPr>
          <p:cNvPr id="5" name="Shape 3"/>
          <p:cNvSpPr/>
          <p:nvPr/>
        </p:nvSpPr>
        <p:spPr>
          <a:xfrm>
            <a:off x="1051560" y="5212080"/>
            <a:ext cx="41148" cy="41148"/>
          </a:xfrm>
          <a:prstGeom prst="ellipse">
            <a:avLst/>
          </a:prstGeom>
          <a:solidFill>
            <a:srgbClr val="202A3A"/>
          </a:solidFill>
          <a:ln w="12700">
            <a:solidFill>
              <a:srgbClr val="202A3A"/>
            </a:solidFill>
            <a:prstDash val="solid"/>
          </a:ln>
        </p:spPr>
      </p:sp>
      <p:sp>
        <p:nvSpPr>
          <p:cNvPr id="6" name="Shape 4"/>
          <p:cNvSpPr/>
          <p:nvPr/>
        </p:nvSpPr>
        <p:spPr>
          <a:xfrm>
            <a:off x="1188720" y="5212080"/>
            <a:ext cx="41148" cy="41148"/>
          </a:xfrm>
          <a:prstGeom prst="ellipse">
            <a:avLst/>
          </a:prstGeom>
          <a:solidFill>
            <a:srgbClr val="202A3A"/>
          </a:solidFill>
          <a:ln w="12700">
            <a:solidFill>
              <a:srgbClr val="202A3A"/>
            </a:solidFill>
            <a:prstDash val="solid"/>
          </a:ln>
        </p:spPr>
      </p:sp>
      <p:sp>
        <p:nvSpPr>
          <p:cNvPr id="7" name="Shape 5"/>
          <p:cNvSpPr/>
          <p:nvPr/>
        </p:nvSpPr>
        <p:spPr>
          <a:xfrm>
            <a:off x="1325880" y="5212080"/>
            <a:ext cx="41148" cy="41148"/>
          </a:xfrm>
          <a:prstGeom prst="ellipse">
            <a:avLst/>
          </a:prstGeom>
          <a:solidFill>
            <a:srgbClr val="202A3A"/>
          </a:solidFill>
          <a:ln w="12700">
            <a:solidFill>
              <a:srgbClr val="202A3A"/>
            </a:solidFill>
            <a:prstDash val="solid"/>
          </a:ln>
        </p:spPr>
      </p:sp>
      <p:sp>
        <p:nvSpPr>
          <p:cNvPr id="8" name="Shape 6"/>
          <p:cNvSpPr/>
          <p:nvPr/>
        </p:nvSpPr>
        <p:spPr>
          <a:xfrm>
            <a:off x="1463040" y="5212080"/>
            <a:ext cx="41148" cy="41148"/>
          </a:xfrm>
          <a:prstGeom prst="ellipse">
            <a:avLst/>
          </a:prstGeom>
          <a:solidFill>
            <a:srgbClr val="202A3A"/>
          </a:solidFill>
          <a:ln w="12700">
            <a:solidFill>
              <a:srgbClr val="202A3A"/>
            </a:solidFill>
            <a:prstDash val="solid"/>
          </a:ln>
        </p:spPr>
      </p:sp>
      <p:sp>
        <p:nvSpPr>
          <p:cNvPr id="9" name="Shape 7"/>
          <p:cNvSpPr/>
          <p:nvPr/>
        </p:nvSpPr>
        <p:spPr>
          <a:xfrm>
            <a:off x="1600200" y="5212080"/>
            <a:ext cx="41148" cy="41148"/>
          </a:xfrm>
          <a:prstGeom prst="ellipse">
            <a:avLst/>
          </a:prstGeom>
          <a:solidFill>
            <a:srgbClr val="202A3A"/>
          </a:solidFill>
          <a:ln w="12700">
            <a:solidFill>
              <a:srgbClr val="202A3A"/>
            </a:solidFill>
            <a:prstDash val="solid"/>
          </a:ln>
        </p:spPr>
      </p:sp>
      <p:sp>
        <p:nvSpPr>
          <p:cNvPr id="10" name="Shape 8"/>
          <p:cNvSpPr/>
          <p:nvPr/>
        </p:nvSpPr>
        <p:spPr>
          <a:xfrm>
            <a:off x="640080" y="5349240"/>
            <a:ext cx="41148" cy="41148"/>
          </a:xfrm>
          <a:prstGeom prst="ellipse">
            <a:avLst/>
          </a:prstGeom>
          <a:solidFill>
            <a:srgbClr val="202A3A"/>
          </a:solidFill>
          <a:ln w="12700">
            <a:solidFill>
              <a:srgbClr val="202A3A"/>
            </a:solidFill>
            <a:prstDash val="solid"/>
          </a:ln>
        </p:spPr>
      </p:sp>
      <p:sp>
        <p:nvSpPr>
          <p:cNvPr id="11" name="Shape 9"/>
          <p:cNvSpPr/>
          <p:nvPr/>
        </p:nvSpPr>
        <p:spPr>
          <a:xfrm>
            <a:off x="777240" y="5349240"/>
            <a:ext cx="41148" cy="41148"/>
          </a:xfrm>
          <a:prstGeom prst="ellipse">
            <a:avLst/>
          </a:prstGeom>
          <a:solidFill>
            <a:srgbClr val="202A3A"/>
          </a:solidFill>
          <a:ln w="12700">
            <a:solidFill>
              <a:srgbClr val="202A3A"/>
            </a:solidFill>
            <a:prstDash val="solid"/>
          </a:ln>
        </p:spPr>
      </p:sp>
      <p:sp>
        <p:nvSpPr>
          <p:cNvPr id="12" name="Shape 10"/>
          <p:cNvSpPr/>
          <p:nvPr/>
        </p:nvSpPr>
        <p:spPr>
          <a:xfrm>
            <a:off x="914400" y="5349240"/>
            <a:ext cx="41148" cy="41148"/>
          </a:xfrm>
          <a:prstGeom prst="ellipse">
            <a:avLst/>
          </a:prstGeom>
          <a:solidFill>
            <a:srgbClr val="202A3A"/>
          </a:solidFill>
          <a:ln w="12700">
            <a:solidFill>
              <a:srgbClr val="202A3A"/>
            </a:solidFill>
            <a:prstDash val="solid"/>
          </a:ln>
        </p:spPr>
      </p:sp>
      <p:sp>
        <p:nvSpPr>
          <p:cNvPr id="13" name="Shape 11"/>
          <p:cNvSpPr/>
          <p:nvPr/>
        </p:nvSpPr>
        <p:spPr>
          <a:xfrm>
            <a:off x="1051560" y="5349240"/>
            <a:ext cx="41148" cy="41148"/>
          </a:xfrm>
          <a:prstGeom prst="ellipse">
            <a:avLst/>
          </a:prstGeom>
          <a:solidFill>
            <a:srgbClr val="202A3A"/>
          </a:solidFill>
          <a:ln w="12700">
            <a:solidFill>
              <a:srgbClr val="202A3A"/>
            </a:solidFill>
            <a:prstDash val="solid"/>
          </a:ln>
        </p:spPr>
      </p:sp>
      <p:sp>
        <p:nvSpPr>
          <p:cNvPr id="14" name="Shape 12"/>
          <p:cNvSpPr/>
          <p:nvPr/>
        </p:nvSpPr>
        <p:spPr>
          <a:xfrm>
            <a:off x="1188720" y="5349240"/>
            <a:ext cx="41148" cy="41148"/>
          </a:xfrm>
          <a:prstGeom prst="ellipse">
            <a:avLst/>
          </a:prstGeom>
          <a:solidFill>
            <a:srgbClr val="202A3A"/>
          </a:solidFill>
          <a:ln w="12700">
            <a:solidFill>
              <a:srgbClr val="202A3A"/>
            </a:solidFill>
            <a:prstDash val="solid"/>
          </a:ln>
        </p:spPr>
      </p:sp>
      <p:sp>
        <p:nvSpPr>
          <p:cNvPr id="15" name="Shape 13"/>
          <p:cNvSpPr/>
          <p:nvPr/>
        </p:nvSpPr>
        <p:spPr>
          <a:xfrm>
            <a:off x="1325880" y="5349240"/>
            <a:ext cx="41148" cy="41148"/>
          </a:xfrm>
          <a:prstGeom prst="ellipse">
            <a:avLst/>
          </a:prstGeom>
          <a:solidFill>
            <a:srgbClr val="202A3A"/>
          </a:solidFill>
          <a:ln w="12700">
            <a:solidFill>
              <a:srgbClr val="202A3A"/>
            </a:solidFill>
            <a:prstDash val="solid"/>
          </a:ln>
        </p:spPr>
      </p:sp>
      <p:sp>
        <p:nvSpPr>
          <p:cNvPr id="16" name="Shape 14"/>
          <p:cNvSpPr/>
          <p:nvPr/>
        </p:nvSpPr>
        <p:spPr>
          <a:xfrm>
            <a:off x="1463040" y="5349240"/>
            <a:ext cx="41148" cy="41148"/>
          </a:xfrm>
          <a:prstGeom prst="ellipse">
            <a:avLst/>
          </a:prstGeom>
          <a:solidFill>
            <a:srgbClr val="202A3A"/>
          </a:solidFill>
          <a:ln w="12700">
            <a:solidFill>
              <a:srgbClr val="202A3A"/>
            </a:solidFill>
            <a:prstDash val="solid"/>
          </a:ln>
        </p:spPr>
      </p:sp>
      <p:sp>
        <p:nvSpPr>
          <p:cNvPr id="17" name="Shape 15"/>
          <p:cNvSpPr/>
          <p:nvPr/>
        </p:nvSpPr>
        <p:spPr>
          <a:xfrm>
            <a:off x="1600200" y="5349240"/>
            <a:ext cx="41148" cy="41148"/>
          </a:xfrm>
          <a:prstGeom prst="ellipse">
            <a:avLst/>
          </a:prstGeom>
          <a:solidFill>
            <a:srgbClr val="202A3A"/>
          </a:solidFill>
          <a:ln w="12700">
            <a:solidFill>
              <a:srgbClr val="202A3A"/>
            </a:solidFill>
            <a:prstDash val="solid"/>
          </a:ln>
        </p:spPr>
      </p:sp>
      <p:sp>
        <p:nvSpPr>
          <p:cNvPr id="18" name="Shape 16"/>
          <p:cNvSpPr/>
          <p:nvPr/>
        </p:nvSpPr>
        <p:spPr>
          <a:xfrm>
            <a:off x="640080" y="5486400"/>
            <a:ext cx="41148" cy="41148"/>
          </a:xfrm>
          <a:prstGeom prst="ellipse">
            <a:avLst/>
          </a:prstGeom>
          <a:solidFill>
            <a:srgbClr val="202A3A"/>
          </a:solidFill>
          <a:ln w="12700">
            <a:solidFill>
              <a:srgbClr val="202A3A"/>
            </a:solidFill>
            <a:prstDash val="solid"/>
          </a:ln>
        </p:spPr>
      </p:sp>
      <p:sp>
        <p:nvSpPr>
          <p:cNvPr id="19" name="Shape 17"/>
          <p:cNvSpPr/>
          <p:nvPr/>
        </p:nvSpPr>
        <p:spPr>
          <a:xfrm>
            <a:off x="777240" y="5486400"/>
            <a:ext cx="41148" cy="41148"/>
          </a:xfrm>
          <a:prstGeom prst="ellipse">
            <a:avLst/>
          </a:prstGeom>
          <a:solidFill>
            <a:srgbClr val="202A3A"/>
          </a:solidFill>
          <a:ln w="12700">
            <a:solidFill>
              <a:srgbClr val="202A3A"/>
            </a:solidFill>
            <a:prstDash val="solid"/>
          </a:ln>
        </p:spPr>
      </p:sp>
      <p:sp>
        <p:nvSpPr>
          <p:cNvPr id="20" name="Shape 18"/>
          <p:cNvSpPr/>
          <p:nvPr/>
        </p:nvSpPr>
        <p:spPr>
          <a:xfrm>
            <a:off x="914400" y="5486400"/>
            <a:ext cx="41148" cy="41148"/>
          </a:xfrm>
          <a:prstGeom prst="ellipse">
            <a:avLst/>
          </a:prstGeom>
          <a:solidFill>
            <a:srgbClr val="202A3A"/>
          </a:solidFill>
          <a:ln w="12700">
            <a:solidFill>
              <a:srgbClr val="202A3A"/>
            </a:solidFill>
            <a:prstDash val="solid"/>
          </a:ln>
        </p:spPr>
      </p:sp>
      <p:sp>
        <p:nvSpPr>
          <p:cNvPr id="21" name="Shape 19"/>
          <p:cNvSpPr/>
          <p:nvPr/>
        </p:nvSpPr>
        <p:spPr>
          <a:xfrm>
            <a:off x="1051560" y="5486400"/>
            <a:ext cx="41148" cy="41148"/>
          </a:xfrm>
          <a:prstGeom prst="ellipse">
            <a:avLst/>
          </a:prstGeom>
          <a:solidFill>
            <a:srgbClr val="202A3A"/>
          </a:solidFill>
          <a:ln w="12700">
            <a:solidFill>
              <a:srgbClr val="202A3A"/>
            </a:solidFill>
            <a:prstDash val="solid"/>
          </a:ln>
        </p:spPr>
      </p:sp>
      <p:sp>
        <p:nvSpPr>
          <p:cNvPr id="22" name="Shape 20"/>
          <p:cNvSpPr/>
          <p:nvPr/>
        </p:nvSpPr>
        <p:spPr>
          <a:xfrm>
            <a:off x="1188720" y="5486400"/>
            <a:ext cx="41148" cy="41148"/>
          </a:xfrm>
          <a:prstGeom prst="ellipse">
            <a:avLst/>
          </a:prstGeom>
          <a:solidFill>
            <a:srgbClr val="202A3A"/>
          </a:solidFill>
          <a:ln w="12700">
            <a:solidFill>
              <a:srgbClr val="202A3A"/>
            </a:solidFill>
            <a:prstDash val="solid"/>
          </a:ln>
        </p:spPr>
      </p:sp>
      <p:sp>
        <p:nvSpPr>
          <p:cNvPr id="23" name="Shape 21"/>
          <p:cNvSpPr/>
          <p:nvPr/>
        </p:nvSpPr>
        <p:spPr>
          <a:xfrm>
            <a:off x="1325880" y="5486400"/>
            <a:ext cx="41148" cy="41148"/>
          </a:xfrm>
          <a:prstGeom prst="ellipse">
            <a:avLst/>
          </a:prstGeom>
          <a:solidFill>
            <a:srgbClr val="202A3A"/>
          </a:solidFill>
          <a:ln w="12700">
            <a:solidFill>
              <a:srgbClr val="202A3A"/>
            </a:solidFill>
            <a:prstDash val="solid"/>
          </a:ln>
        </p:spPr>
      </p:sp>
      <p:sp>
        <p:nvSpPr>
          <p:cNvPr id="24" name="Shape 22"/>
          <p:cNvSpPr/>
          <p:nvPr/>
        </p:nvSpPr>
        <p:spPr>
          <a:xfrm>
            <a:off x="1463040" y="5486400"/>
            <a:ext cx="41148" cy="41148"/>
          </a:xfrm>
          <a:prstGeom prst="ellipse">
            <a:avLst/>
          </a:prstGeom>
          <a:solidFill>
            <a:srgbClr val="202A3A"/>
          </a:solidFill>
          <a:ln w="12700">
            <a:solidFill>
              <a:srgbClr val="202A3A"/>
            </a:solidFill>
            <a:prstDash val="solid"/>
          </a:ln>
        </p:spPr>
      </p:sp>
      <p:sp>
        <p:nvSpPr>
          <p:cNvPr id="25" name="Shape 23"/>
          <p:cNvSpPr/>
          <p:nvPr/>
        </p:nvSpPr>
        <p:spPr>
          <a:xfrm>
            <a:off x="1600200" y="5486400"/>
            <a:ext cx="41148" cy="41148"/>
          </a:xfrm>
          <a:prstGeom prst="ellipse">
            <a:avLst/>
          </a:prstGeom>
          <a:solidFill>
            <a:srgbClr val="202A3A"/>
          </a:solidFill>
          <a:ln w="12700">
            <a:solidFill>
              <a:srgbClr val="202A3A"/>
            </a:solidFill>
            <a:prstDash val="solid"/>
          </a:ln>
        </p:spPr>
      </p:sp>
      <p:sp>
        <p:nvSpPr>
          <p:cNvPr id="26" name="Shape 24"/>
          <p:cNvSpPr/>
          <p:nvPr/>
        </p:nvSpPr>
        <p:spPr>
          <a:xfrm>
            <a:off x="640080" y="5623560"/>
            <a:ext cx="41148" cy="41148"/>
          </a:xfrm>
          <a:prstGeom prst="ellipse">
            <a:avLst/>
          </a:prstGeom>
          <a:solidFill>
            <a:srgbClr val="202A3A"/>
          </a:solidFill>
          <a:ln w="12700">
            <a:solidFill>
              <a:srgbClr val="202A3A"/>
            </a:solidFill>
            <a:prstDash val="solid"/>
          </a:ln>
        </p:spPr>
      </p:sp>
      <p:sp>
        <p:nvSpPr>
          <p:cNvPr id="27" name="Shape 25"/>
          <p:cNvSpPr/>
          <p:nvPr/>
        </p:nvSpPr>
        <p:spPr>
          <a:xfrm>
            <a:off x="777240" y="5623560"/>
            <a:ext cx="41148" cy="41148"/>
          </a:xfrm>
          <a:prstGeom prst="ellipse">
            <a:avLst/>
          </a:prstGeom>
          <a:solidFill>
            <a:srgbClr val="202A3A"/>
          </a:solidFill>
          <a:ln w="12700">
            <a:solidFill>
              <a:srgbClr val="202A3A"/>
            </a:solidFill>
            <a:prstDash val="solid"/>
          </a:ln>
        </p:spPr>
      </p:sp>
      <p:sp>
        <p:nvSpPr>
          <p:cNvPr id="28" name="Shape 26"/>
          <p:cNvSpPr/>
          <p:nvPr/>
        </p:nvSpPr>
        <p:spPr>
          <a:xfrm>
            <a:off x="914400" y="5623560"/>
            <a:ext cx="41148" cy="41148"/>
          </a:xfrm>
          <a:prstGeom prst="ellipse">
            <a:avLst/>
          </a:prstGeom>
          <a:solidFill>
            <a:srgbClr val="202A3A"/>
          </a:solidFill>
          <a:ln w="12700">
            <a:solidFill>
              <a:srgbClr val="202A3A"/>
            </a:solidFill>
            <a:prstDash val="solid"/>
          </a:ln>
        </p:spPr>
      </p:sp>
      <p:sp>
        <p:nvSpPr>
          <p:cNvPr id="29" name="Shape 27"/>
          <p:cNvSpPr/>
          <p:nvPr/>
        </p:nvSpPr>
        <p:spPr>
          <a:xfrm>
            <a:off x="1051560" y="5623560"/>
            <a:ext cx="41148" cy="41148"/>
          </a:xfrm>
          <a:prstGeom prst="ellipse">
            <a:avLst/>
          </a:prstGeom>
          <a:solidFill>
            <a:srgbClr val="202A3A"/>
          </a:solidFill>
          <a:ln w="12700">
            <a:solidFill>
              <a:srgbClr val="202A3A"/>
            </a:solidFill>
            <a:prstDash val="solid"/>
          </a:ln>
        </p:spPr>
      </p:sp>
      <p:sp>
        <p:nvSpPr>
          <p:cNvPr id="30" name="Shape 28"/>
          <p:cNvSpPr/>
          <p:nvPr/>
        </p:nvSpPr>
        <p:spPr>
          <a:xfrm>
            <a:off x="1188720" y="5623560"/>
            <a:ext cx="41148" cy="41148"/>
          </a:xfrm>
          <a:prstGeom prst="ellipse">
            <a:avLst/>
          </a:prstGeom>
          <a:solidFill>
            <a:srgbClr val="202A3A"/>
          </a:solidFill>
          <a:ln w="12700">
            <a:solidFill>
              <a:srgbClr val="202A3A"/>
            </a:solidFill>
            <a:prstDash val="solid"/>
          </a:ln>
        </p:spPr>
      </p:sp>
      <p:sp>
        <p:nvSpPr>
          <p:cNvPr id="31" name="Shape 29"/>
          <p:cNvSpPr/>
          <p:nvPr/>
        </p:nvSpPr>
        <p:spPr>
          <a:xfrm>
            <a:off x="1325880" y="5623560"/>
            <a:ext cx="41148" cy="41148"/>
          </a:xfrm>
          <a:prstGeom prst="ellipse">
            <a:avLst/>
          </a:prstGeom>
          <a:solidFill>
            <a:srgbClr val="202A3A"/>
          </a:solidFill>
          <a:ln w="12700">
            <a:solidFill>
              <a:srgbClr val="202A3A"/>
            </a:solidFill>
            <a:prstDash val="solid"/>
          </a:ln>
        </p:spPr>
      </p:sp>
      <p:sp>
        <p:nvSpPr>
          <p:cNvPr id="32" name="Shape 30"/>
          <p:cNvSpPr/>
          <p:nvPr/>
        </p:nvSpPr>
        <p:spPr>
          <a:xfrm>
            <a:off x="1463040" y="5623560"/>
            <a:ext cx="41148" cy="41148"/>
          </a:xfrm>
          <a:prstGeom prst="ellipse">
            <a:avLst/>
          </a:prstGeom>
          <a:solidFill>
            <a:srgbClr val="202A3A"/>
          </a:solidFill>
          <a:ln w="12700">
            <a:solidFill>
              <a:srgbClr val="202A3A"/>
            </a:solidFill>
            <a:prstDash val="solid"/>
          </a:ln>
        </p:spPr>
      </p:sp>
      <p:sp>
        <p:nvSpPr>
          <p:cNvPr id="33" name="Shape 31"/>
          <p:cNvSpPr/>
          <p:nvPr/>
        </p:nvSpPr>
        <p:spPr>
          <a:xfrm>
            <a:off x="1600200" y="5623560"/>
            <a:ext cx="41148" cy="41148"/>
          </a:xfrm>
          <a:prstGeom prst="ellipse">
            <a:avLst/>
          </a:prstGeom>
          <a:solidFill>
            <a:srgbClr val="202A3A"/>
          </a:solidFill>
          <a:ln w="12700">
            <a:solidFill>
              <a:srgbClr val="202A3A"/>
            </a:solidFill>
            <a:prstDash val="solid"/>
          </a:ln>
        </p:spPr>
      </p:sp>
      <p:sp>
        <p:nvSpPr>
          <p:cNvPr id="34" name="Text 32"/>
          <p:cNvSpPr txBox="1"/>
          <p:nvPr/>
        </p:nvSpPr>
        <p:spPr>
          <a:xfrm>
            <a:off x="640080" y="1737360"/>
            <a:ext cx="5486400" cy="365760"/>
          </a:xfrm>
          <a:prstGeom prst="rect">
            <a:avLst/>
          </a:prstGeom>
          <a:noFill/>
          <a:ln/>
        </p:spPr>
        <p:txBody>
          <a:bodyPr wrap="square" lIns="0" tIns="0" rIns="0" bIns="0" rtlCol="0" anchor="ctr"/>
          <a:lstStyle/>
          <a:p>
            <a:pPr marL="0" indent="0">
              <a:buNone/>
            </a:pPr>
            <a:r>
              <a:rPr lang="en-US" sz="1300" b="1" kern="0" spc="200" dirty="0">
                <a:solidFill>
                  <a:srgbClr val="E63946"/>
                </a:solidFill>
                <a:latin typeface="Calibri" pitchFamily="34" charset="0"/>
                <a:ea typeface="Calibri" pitchFamily="34" charset="-122"/>
                <a:cs typeface="Calibri" pitchFamily="34" charset="-120"/>
              </a:rPr>
              <a:t>SONUÇ</a:t>
            </a:r>
            <a:endParaRPr lang="en-US" sz="1300" dirty="0"/>
          </a:p>
        </p:txBody>
      </p:sp>
      <p:sp>
        <p:nvSpPr>
          <p:cNvPr id="35" name="Text 33"/>
          <p:cNvSpPr txBox="1"/>
          <p:nvPr/>
        </p:nvSpPr>
        <p:spPr>
          <a:xfrm>
            <a:off x="640080" y="2148840"/>
            <a:ext cx="10241280" cy="137160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Cambria" pitchFamily="34" charset="0"/>
                <a:ea typeface="Cambria" pitchFamily="34" charset="-122"/>
                <a:cs typeface="Cambria" pitchFamily="34" charset="-120"/>
              </a:rPr>
              <a:t>Alarm doğru çalıştı — ama tespit ile ele geçirme arasında yalnızca ~4 dakika vardı.</a:t>
            </a:r>
            <a:endParaRPr lang="en-US" sz="3000" dirty="0"/>
          </a:p>
        </p:txBody>
      </p:sp>
      <p:sp>
        <p:nvSpPr>
          <p:cNvPr id="36" name="Text 34"/>
          <p:cNvSpPr txBox="1"/>
          <p:nvPr/>
        </p:nvSpPr>
        <p:spPr>
          <a:xfrm>
            <a:off x="640080" y="3657600"/>
            <a:ext cx="9144000" cy="1097280"/>
          </a:xfrm>
          <a:prstGeom prst="rect">
            <a:avLst/>
          </a:prstGeom>
          <a:noFill/>
          <a:ln/>
        </p:spPr>
        <p:txBody>
          <a:bodyPr wrap="square" lIns="0" tIns="0" rIns="0" bIns="0" rtlCol="0" anchor="ctr"/>
          <a:lstStyle/>
          <a:p>
            <a:pPr>
              <a:lnSpc>
                <a:spcPct val="140000"/>
              </a:lnSpc>
            </a:pPr>
            <a:r>
              <a:rPr lang="en-US" sz="1450" dirty="0">
                <a:solidFill>
                  <a:srgbClr val="C7CEDA"/>
                </a:solidFill>
                <a:latin typeface="Calibri" pitchFamily="34" charset="0"/>
                <a:ea typeface="Calibri" pitchFamily="34" charset="-122"/>
                <a:cs typeface="Calibri" pitchFamily="34" charset="-120"/>
              </a:rPr>
              <a:t>Bu olay, otomatik engelleme mekanizmalarının </a:t>
            </a:r>
            <a:r>
              <a:rPr lang="en-US" sz="1450" dirty="0" err="1">
                <a:solidFill>
                  <a:srgbClr val="C7CEDA"/>
                </a:solidFill>
                <a:latin typeface="Calibri" pitchFamily="34" charset="0"/>
                <a:ea typeface="Calibri" pitchFamily="34" charset="-122"/>
                <a:cs typeface="Calibri" pitchFamily="34" charset="-120"/>
              </a:rPr>
              <a:t>neden</a:t>
            </a:r>
            <a:r>
              <a:rPr lang="en-US" sz="1450" dirty="0">
                <a:solidFill>
                  <a:srgbClr val="C7CEDA"/>
                </a:solidFill>
                <a:latin typeface="Calibri" pitchFamily="34" charset="0"/>
                <a:ea typeface="Calibri" pitchFamily="34" charset="-122"/>
                <a:cs typeface="Calibri" pitchFamily="34" charset="-120"/>
              </a:rPr>
              <a:t> </a:t>
            </a:r>
            <a:r>
              <a:rPr lang="en-US" sz="1450" dirty="0" err="1" smtClean="0">
                <a:solidFill>
                  <a:srgbClr val="C7CEDA"/>
                </a:solidFill>
                <a:latin typeface="Calibri" pitchFamily="34" charset="0"/>
                <a:ea typeface="Calibri" pitchFamily="34" charset="-122"/>
                <a:cs typeface="Calibri" pitchFamily="34" charset="-120"/>
              </a:rPr>
              <a:t>gerekli</a:t>
            </a:r>
            <a:r>
              <a:rPr lang="en-US" sz="1450" dirty="0" smtClean="0">
                <a:solidFill>
                  <a:srgbClr val="C7CEDA"/>
                </a:solidFill>
                <a:latin typeface="Calibri" pitchFamily="34" charset="0"/>
                <a:ea typeface="Calibri" pitchFamily="34" charset="-122"/>
                <a:cs typeface="Calibri" pitchFamily="34" charset="-120"/>
              </a:rPr>
              <a:t> </a:t>
            </a:r>
            <a:r>
              <a:rPr lang="en-US" sz="1450" dirty="0">
                <a:solidFill>
                  <a:srgbClr val="C7CEDA"/>
                </a:solidFill>
                <a:latin typeface="Calibri" pitchFamily="34" charset="0"/>
                <a:ea typeface="Calibri" pitchFamily="34" charset="-122"/>
                <a:cs typeface="Calibri" pitchFamily="34" charset="-120"/>
              </a:rPr>
              <a:t>bir kontrol olduğunu gösteriyor. Kanıt zinciri Splunk üzerinde uçtan uca </a:t>
            </a:r>
            <a:r>
              <a:rPr lang="en-US" sz="1450" dirty="0" err="1">
                <a:solidFill>
                  <a:srgbClr val="C7CEDA"/>
                </a:solidFill>
                <a:latin typeface="Calibri" pitchFamily="34" charset="0"/>
                <a:ea typeface="Calibri" pitchFamily="34" charset="-122"/>
                <a:cs typeface="Calibri" pitchFamily="34" charset="-120"/>
              </a:rPr>
              <a:t>doğrulandı</a:t>
            </a:r>
            <a:r>
              <a:rPr lang="en-US" sz="1450" dirty="0">
                <a:solidFill>
                  <a:srgbClr val="C7CEDA"/>
                </a:solidFill>
                <a:latin typeface="Calibri" pitchFamily="34" charset="0"/>
                <a:ea typeface="Calibri" pitchFamily="34" charset="-122"/>
                <a:cs typeface="Calibri" pitchFamily="34" charset="-120"/>
              </a:rPr>
              <a:t> </a:t>
            </a:r>
            <a:r>
              <a:rPr lang="en-US" sz="1450" dirty="0" err="1" smtClean="0">
                <a:solidFill>
                  <a:srgbClr val="C7CEDA"/>
                </a:solidFill>
                <a:latin typeface="Calibri" pitchFamily="34" charset="0"/>
                <a:ea typeface="Calibri" pitchFamily="34" charset="-122"/>
                <a:cs typeface="Calibri" pitchFamily="34" charset="-120"/>
              </a:rPr>
              <a:t>ve</a:t>
            </a:r>
            <a:r>
              <a:rPr lang="tr-TR" sz="1450" dirty="0" smtClean="0">
                <a:solidFill>
                  <a:srgbClr val="C7CEDA"/>
                </a:solidFill>
                <a:latin typeface="Calibri" pitchFamily="34" charset="0"/>
                <a:ea typeface="Calibri" pitchFamily="34" charset="-122"/>
                <a:cs typeface="Calibri" pitchFamily="34" charset="-120"/>
              </a:rPr>
              <a:t> </a:t>
            </a:r>
            <a:r>
              <a:rPr lang="tr-TR" sz="1450" dirty="0" smtClean="0">
                <a:solidFill>
                  <a:srgbClr val="C7CEDA"/>
                </a:solidFill>
                <a:latin typeface="Calibri" pitchFamily="34" charset="0"/>
                <a:ea typeface="Calibri" pitchFamily="34" charset="-122"/>
                <a:cs typeface="Calibri" pitchFamily="34" charset="-120"/>
              </a:rPr>
              <a:t>“2026-09-04_Olay-Raporu-1”</a:t>
            </a:r>
            <a:r>
              <a:rPr lang="en-US" sz="1450" dirty="0" smtClean="0">
                <a:solidFill>
                  <a:srgbClr val="C7CEDA"/>
                </a:solidFill>
                <a:latin typeface="Calibri" pitchFamily="34" charset="0"/>
                <a:ea typeface="Calibri" pitchFamily="34" charset="-122"/>
                <a:cs typeface="Calibri" pitchFamily="34" charset="-120"/>
              </a:rPr>
              <a:t> </a:t>
            </a:r>
            <a:r>
              <a:rPr lang="en-US" sz="1450" dirty="0" err="1" smtClean="0">
                <a:solidFill>
                  <a:srgbClr val="C7CEDA"/>
                </a:solidFill>
                <a:latin typeface="Calibri" pitchFamily="34" charset="0"/>
                <a:ea typeface="Calibri" pitchFamily="34" charset="-122"/>
                <a:cs typeface="Calibri" pitchFamily="34" charset="-120"/>
              </a:rPr>
              <a:t>olay</a:t>
            </a:r>
            <a:r>
              <a:rPr lang="en-US" sz="1450" dirty="0" smtClean="0">
                <a:solidFill>
                  <a:srgbClr val="C7CEDA"/>
                </a:solidFill>
                <a:latin typeface="Calibri" pitchFamily="34" charset="0"/>
                <a:ea typeface="Calibri" pitchFamily="34" charset="-122"/>
                <a:cs typeface="Calibri" pitchFamily="34" charset="-120"/>
              </a:rPr>
              <a:t> </a:t>
            </a:r>
            <a:r>
              <a:rPr lang="en-US" sz="1450" dirty="0">
                <a:solidFill>
                  <a:srgbClr val="C7CEDA"/>
                </a:solidFill>
                <a:latin typeface="Calibri" pitchFamily="34" charset="0"/>
                <a:ea typeface="Calibri" pitchFamily="34" charset="-122"/>
                <a:cs typeface="Calibri" pitchFamily="34" charset="-120"/>
              </a:rPr>
              <a:t>raporunda belgelendi.</a:t>
            </a:r>
            <a:endParaRPr lang="en-US" sz="1450" dirty="0"/>
          </a:p>
        </p:txBody>
      </p:sp>
      <p:sp>
        <p:nvSpPr>
          <p:cNvPr id="37" name="Shape 35"/>
          <p:cNvSpPr/>
          <p:nvPr/>
        </p:nvSpPr>
        <p:spPr>
          <a:xfrm>
            <a:off x="658368" y="5029200"/>
            <a:ext cx="0" cy="822960"/>
          </a:xfrm>
          <a:prstGeom prst="line">
            <a:avLst/>
          </a:prstGeom>
          <a:noFill/>
          <a:ln w="19050">
            <a:solidFill>
              <a:srgbClr val="323C4E"/>
            </a:solidFill>
            <a:prstDash val="solid"/>
          </a:ln>
        </p:spPr>
      </p:sp>
      <p:sp>
        <p:nvSpPr>
          <p:cNvPr id="38" name="Text 36"/>
          <p:cNvSpPr txBox="1"/>
          <p:nvPr/>
        </p:nvSpPr>
        <p:spPr>
          <a:xfrm>
            <a:off x="868680" y="5120640"/>
            <a:ext cx="5486400" cy="6400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Teşekkürler — Sorular?</a:t>
            </a:r>
            <a:endParaRPr lang="en-US" sz="1500" dirty="0"/>
          </a:p>
        </p:txBody>
      </p:sp>
      <p:sp>
        <p:nvSpPr>
          <p:cNvPr id="40" name="Text 38"/>
          <p:cNvSpPr txBox="1"/>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13</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1629</Words>
  <Application>Microsoft Office PowerPoint</Application>
  <PresentationFormat>Özel</PresentationFormat>
  <Paragraphs>176</Paragraphs>
  <Slides>13</Slides>
  <Notes>13</Notes>
  <HiddenSlides>0</HiddenSlides>
  <MMClips>0</MMClips>
  <ScaleCrop>false</ScaleCrop>
  <HeadingPairs>
    <vt:vector size="4" baseType="variant">
      <vt:variant>
        <vt:lpstr>Tema</vt:lpstr>
      </vt:variant>
      <vt:variant>
        <vt:i4>1</vt:i4>
      </vt:variant>
      <vt:variant>
        <vt:lpstr>Slayt Başlıkları</vt:lpstr>
      </vt:variant>
      <vt:variant>
        <vt:i4>13</vt:i4>
      </vt:variant>
    </vt:vector>
  </HeadingPairs>
  <TitlesOfParts>
    <vt:vector size="14" baseType="lpstr">
      <vt:lpstr>Office Theme</vt:lpstr>
      <vt:lpstr>Slayt 1</vt:lpstr>
      <vt:lpstr>Slayt 2</vt:lpstr>
      <vt:lpstr>Slayt 3</vt:lpstr>
      <vt:lpstr>Slayt 4</vt:lpstr>
      <vt:lpstr>Slayt 5</vt:lpstr>
      <vt:lpstr>Slayt 6</vt:lpstr>
      <vt:lpstr>Slayt 7</vt:lpstr>
      <vt:lpstr>Slayt 8</vt:lpstr>
      <vt:lpstr>Slayt 9</vt:lpstr>
      <vt:lpstr>Slayt 10</vt:lpstr>
      <vt:lpstr>Slayt 11</vt:lpstr>
      <vt:lpstr>Slayt 12</vt:lpstr>
      <vt:lpstr>Slayt 13</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Erdem</cp:lastModifiedBy>
  <cp:revision>5</cp:revision>
  <dcterms:created xsi:type="dcterms:W3CDTF">2026-09-04T09:32:18Z</dcterms:created>
  <dcterms:modified xsi:type="dcterms:W3CDTF">2026-09-04T11:38:19Z</dcterms:modified>
</cp:coreProperties>
</file>